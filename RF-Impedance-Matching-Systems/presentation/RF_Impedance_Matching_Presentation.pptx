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sldIdLst>
    <p:sldId id="256" r:id="rId5"/>
    <p:sldId id="267" r:id="rId6"/>
    <p:sldId id="257" r:id="rId7"/>
    <p:sldId id="272" r:id="rId8"/>
    <p:sldId id="276" r:id="rId9"/>
    <p:sldId id="273" r:id="rId10"/>
    <p:sldId id="271" r:id="rId11"/>
    <p:sldId id="277" r:id="rId12"/>
    <p:sldId id="274" r:id="rId13"/>
    <p:sldId id="275" r:id="rId14"/>
    <p:sldId id="278" r:id="rId15"/>
    <p:sldId id="280" r:id="rId16"/>
    <p:sldId id="268" r:id="rId1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E3BDBC-6976-B300-71F7-BD240A41D32C}" name="Adriana Pires" initials="AP" userId="S::adrianapires@ua.pt::d8aad074-2816-4c27-a776-a489ce3b3f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172D1-51A0-61CD-F13C-8B70B1294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6D8FB-5120-F99D-95E5-E53A94A3C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D128D-9573-57A1-248C-BE83DC5B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D18E-3467-D252-69EA-BE4406EA5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5B05D-0574-69D2-AF1C-A5E2159E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611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9ABE-30BD-1000-D6F1-AE77A97D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C9115-CBA6-971B-AA3A-9D8B0563C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9F06B-1279-1F11-B8B5-BB9CD6679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124EB-951E-E8A9-E0D5-A65138A4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5AE2D-AEF1-50D7-E2F9-DD68B34CC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0669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95939-6741-EA27-8587-2462932CB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E6FDE-A920-81B1-C1D3-D6105D01D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1075B-69BF-1202-0696-1A015A1E2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75E99-5FCB-7AEA-00A6-B24389A99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3E2F1-D0CB-B42B-E268-D5976E09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3474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DF16A-861D-A707-547A-FFBABF782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8CCE2-12DF-1ABB-E54B-527BDD400B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86BDF-CA3E-D1CD-3A2B-8D4DB4445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C1C7F-CF5E-D473-C452-405ACB2A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1FCA1-D11A-8462-BB86-665BD26CC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FA58C-DA6F-4354-CD1D-A87CBFB5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5605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645B6-DF1F-7857-895E-7EF437FC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2BC9B-926C-3E54-3C2F-E244039A6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94633-8BC7-EF96-264E-62F222CA7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CBD4F-CDB2-404A-0209-69A0E878D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14B24-7D34-68C0-E886-432E1EF34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067B5A-F18A-41B1-65BB-EFCB420B0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CC607F-50E6-8BB6-17D2-E3CF4D1E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F9F17-31E8-206E-58FD-501044B8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610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34D7-FC6E-EDFF-0B7B-46EB2B52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1FF7A-90A9-1484-A9ED-A90BD161B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B8E8F-340A-83C8-E70F-8676C37B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30F5B-D06B-B38E-5DF1-51238C3A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98517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D8FEFB-EFC5-593C-F0B9-CF8FFCD6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5BA1E5-EF34-EFA7-F20F-863F74A2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A7B61-75FF-A0DA-BB8D-788DEA95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105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D753B-A621-6C1D-B0EF-9555E699C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6CA9F-70A7-A68C-EECE-5C2B056A2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DF0AE-C1C2-3CE8-4CEA-AD74A7233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0F354-8EB3-BCB1-E0E9-262205D5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F28D5-7E9F-7DA5-3A01-FD09E7239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5D08A-7581-2921-D776-9D22A5089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225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FA905-9169-4EB5-52F0-4E4493A60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CC594E-C98A-5CE7-369C-604F35C79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EDAFE-124E-A9F8-3098-1B28F7123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A8C1B-D0C5-9EC2-0735-4BB2ED44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2D6FE-50C3-994D-1E20-4AF6DFE6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D9ED7-1919-2492-0DD1-0E92C63D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93691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E275-5CA9-DFBB-3FB6-39BDB87D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5B027-607E-F7C4-CC26-AF2187F31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1DD0C-7B36-B3DE-A0BF-3AAE27A2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959C7-1B84-6C2F-9AA0-ED44EC95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97C33-E890-BBC2-0E7E-6C3B7332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343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5B98CC-A4D8-DA6B-DA76-2E788EAA5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C127A-C1E5-6C09-2075-34C27A895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FFC6-400D-7831-DA46-86081B240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430E5-7809-CEFD-68F9-4AA571D2F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B9F0-ACF7-712F-6F44-24440F20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693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3CEFA-4E4C-E321-ED4A-50E5C9AF7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D5884-F9B5-25CE-7583-89E95BBC0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5B052-A598-FD35-0964-2BC37270C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66ED2-A959-46A9-AEF3-79D38B0F1707}" type="datetimeFigureOut">
              <a:rPr lang="pt-PT" smtClean="0"/>
              <a:t>09/04/2026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0FF4D-ADAD-56E2-04D8-CFC5559F6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8080-2DF3-F59B-C593-E39C7394A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76FD8-2299-4811-9DC9-72BA3320546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4872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0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79F0-23AF-3126-07B0-1972E8BF8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235200"/>
            <a:ext cx="9144000" cy="2387600"/>
          </a:xfrm>
        </p:spPr>
        <p:txBody>
          <a:bodyPr>
            <a:normAutofit/>
          </a:bodyPr>
          <a:lstStyle/>
          <a:p>
            <a:r>
              <a:rPr lang="pt-PT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Trabalho de</a:t>
            </a:r>
            <a:br>
              <a:rPr lang="pt-PT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5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Adaptação de impedâncias </a:t>
            </a:r>
            <a:br>
              <a:rPr lang="pt-PT" sz="5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PT" sz="50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EDFBB-70B6-DA21-368F-EB488F3F0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926" y="5312790"/>
            <a:ext cx="4106779" cy="1246301"/>
          </a:xfrm>
        </p:spPr>
        <p:txBody>
          <a:bodyPr>
            <a:normAutofit/>
          </a:bodyPr>
          <a:lstStyle/>
          <a:p>
            <a:pPr algn="l"/>
            <a:r>
              <a:rPr lang="pt-PT" sz="1800" dirty="0">
                <a:latin typeface="Arial" panose="020B0604020202020204" pitchFamily="34" charset="0"/>
                <a:cs typeface="Arial" panose="020B0604020202020204" pitchFamily="34" charset="0"/>
              </a:rPr>
              <a:t>Adriana Pires     [113223]</a:t>
            </a:r>
          </a:p>
          <a:p>
            <a:pPr algn="l"/>
            <a:r>
              <a:rPr lang="pt-PT" sz="1800" dirty="0">
                <a:latin typeface="Arial" panose="020B0604020202020204" pitchFamily="34" charset="0"/>
                <a:cs typeface="Arial" panose="020B0604020202020204" pitchFamily="34" charset="0"/>
              </a:rPr>
              <a:t>Tomás Ferreira  [103963]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E6E7E-40F9-F956-AA04-1E1DAE1D7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2629" y="99953"/>
            <a:ext cx="1970741" cy="73941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74E12C6-B485-A8FC-6CB0-7C0BCF9F8BFB}"/>
              </a:ext>
            </a:extLst>
          </p:cNvPr>
          <p:cNvSpPr txBox="1">
            <a:spLocks/>
          </p:cNvSpPr>
          <p:nvPr/>
        </p:nvSpPr>
        <p:spPr>
          <a:xfrm>
            <a:off x="352926" y="227208"/>
            <a:ext cx="9002467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tabLst>
                <a:tab pos="900430" algn="l"/>
              </a:tabLst>
            </a:pPr>
            <a:r>
              <a:rPr lang="pt-PT" sz="1800" kern="150" dirty="0">
                <a:effectLst/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Curso 8321         </a:t>
            </a:r>
            <a:r>
              <a:rPr lang="pt-PT" sz="1800" kern="150" dirty="0"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-</a:t>
            </a:r>
            <a:r>
              <a:rPr lang="pt-PT" sz="1800" kern="150" dirty="0">
                <a:effectLst/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 Licenciatura em Engenharia Eletrotécnica e de Computadores</a:t>
            </a:r>
          </a:p>
          <a:p>
            <a:pPr algn="just"/>
            <a:r>
              <a:rPr lang="pt-PT" sz="1800" kern="150" dirty="0">
                <a:effectLst/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Disciplina </a:t>
            </a:r>
            <a:r>
              <a:rPr lang="pt-PT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41567</a:t>
            </a:r>
            <a:r>
              <a:rPr lang="pt-PT" sz="1800" kern="150" dirty="0">
                <a:effectLst/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 </a:t>
            </a:r>
            <a:r>
              <a:rPr lang="pt-PT" sz="1800" kern="150" dirty="0"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-</a:t>
            </a:r>
            <a:r>
              <a:rPr lang="pt-PT" sz="1800" kern="150" dirty="0">
                <a:effectLst/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 </a:t>
            </a:r>
            <a:r>
              <a:rPr lang="pt-PT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Propagação e Radiação de Ondas Eletromagnéticas</a:t>
            </a:r>
          </a:p>
          <a:p>
            <a:pPr algn="just">
              <a:lnSpc>
                <a:spcPct val="150000"/>
              </a:lnSpc>
              <a:tabLst>
                <a:tab pos="900430" algn="l"/>
              </a:tabLst>
            </a:pPr>
            <a:r>
              <a:rPr lang="pt-PT" sz="1800" kern="150" dirty="0">
                <a:effectLst/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Ano Letivo           </a:t>
            </a:r>
            <a:r>
              <a:rPr lang="pt-PT" sz="1800" kern="150" dirty="0"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- </a:t>
            </a:r>
            <a:r>
              <a:rPr lang="pt-PT" sz="1800" kern="150" dirty="0">
                <a:effectLst/>
                <a:latin typeface="Arial" panose="020B0604020202020204" pitchFamily="34" charset="0"/>
                <a:ea typeface="WenQuanYi Zen Hei Sharp"/>
                <a:cs typeface="Arial" panose="020B0604020202020204" pitchFamily="34" charset="0"/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78131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F52A3-4596-FEC8-82A3-8D586D5A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3D360B1-6E50-F411-9276-FBC59DF8D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660" y="1318933"/>
            <a:ext cx="6055491" cy="50607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C9E554-7A81-6382-0521-1442973AE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400" y="478318"/>
            <a:ext cx="10871200" cy="710894"/>
          </a:xfrm>
        </p:spPr>
        <p:txBody>
          <a:bodyPr>
            <a:normAutofit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Dados do trabalho: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DBC51EA1-1B7F-FFAB-710E-14CF2681E67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37652" y="1258529"/>
                <a:ext cx="4002096" cy="5471138"/>
              </a:xfrm>
            </p:spPr>
            <p:txBody>
              <a:bodyPr>
                <a:normAutofit lnSpcReduction="10000"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PT" sz="1800" b="1" dirty="0">
                    <a:latin typeface="+mj-lt"/>
                  </a:rPr>
                  <a:t>Carga para adaptar: </a:t>
                </a:r>
              </a:p>
              <a:p>
                <a:pPr algn="just"/>
                <a:r>
                  <a:rPr lang="pt-PT" sz="1800" dirty="0">
                    <a:latin typeface="+mj-lt"/>
                  </a:rPr>
                  <a:t>Z </a:t>
                </a:r>
                <a:r>
                  <a:rPr lang="pt-PT" sz="1800" baseline="-25000" dirty="0">
                    <a:latin typeface="+mj-lt"/>
                  </a:rPr>
                  <a:t>L</a:t>
                </a:r>
                <a:r>
                  <a:rPr lang="pt-PT" sz="1800" dirty="0">
                    <a:latin typeface="+mj-lt"/>
                  </a:rPr>
                  <a:t>= 71.1 +51.1 j (</a:t>
                </a:r>
                <a:r>
                  <a:rPr lang="el-GR" sz="1800" dirty="0"/>
                  <a:t>Ω</a:t>
                </a:r>
                <a:r>
                  <a:rPr lang="pt-PT" sz="1800" dirty="0">
                    <a:latin typeface="+mj-lt"/>
                  </a:rPr>
                  <a:t>)</a:t>
                </a:r>
              </a:p>
              <a:p>
                <a:pPr algn="just"/>
                <a:r>
                  <a:rPr lang="pt-PT" sz="1800" dirty="0">
                    <a:latin typeface="+mj-lt"/>
                  </a:rPr>
                  <a:t>z </a:t>
                </a:r>
                <a:r>
                  <a:rPr lang="pt-PT" sz="1800" baseline="-25000" dirty="0" err="1">
                    <a:latin typeface="+mj-lt"/>
                  </a:rPr>
                  <a:t>L_normalizada</a:t>
                </a:r>
                <a:r>
                  <a:rPr lang="pt-PT" sz="1800" dirty="0">
                    <a:latin typeface="+mj-lt"/>
                  </a:rPr>
                  <a:t>= 1.42 + 1.022 j (</a:t>
                </a:r>
                <a:r>
                  <a:rPr lang="el-GR" sz="1800" dirty="0"/>
                  <a:t>Ω</a:t>
                </a:r>
                <a:r>
                  <a:rPr lang="pt-PT" sz="1800" dirty="0">
                    <a:latin typeface="+mj-lt"/>
                  </a:rPr>
                  <a:t>)</a:t>
                </a:r>
              </a:p>
              <a:p>
                <a:pPr algn="just"/>
                <a:r>
                  <a:rPr lang="pt-PT" sz="1800" b="1" dirty="0">
                    <a:latin typeface="+mj-lt"/>
                  </a:rPr>
                  <a:t>_____________________________</a:t>
                </a:r>
              </a:p>
              <a:p>
                <a:pPr algn="just"/>
                <a:r>
                  <a:rPr lang="pt-PT" sz="1800" dirty="0">
                    <a:latin typeface="+mj-lt"/>
                  </a:rPr>
                  <a:t>Y </a:t>
                </a:r>
                <a:r>
                  <a:rPr lang="pt-PT" sz="1800" baseline="-25000" dirty="0">
                    <a:latin typeface="+mj-lt"/>
                  </a:rPr>
                  <a:t>L</a:t>
                </a:r>
                <a:r>
                  <a:rPr lang="pt-PT" sz="1800" dirty="0">
                    <a:latin typeface="+mj-lt"/>
                  </a:rPr>
                  <a:t>= 9.27 – 6.67 j (</a:t>
                </a:r>
                <a:r>
                  <a:rPr lang="pt-PT" sz="1800" dirty="0" err="1">
                    <a:latin typeface="+mj-lt"/>
                  </a:rPr>
                  <a:t>mS</a:t>
                </a:r>
                <a:r>
                  <a:rPr lang="pt-PT" sz="1800" dirty="0">
                    <a:latin typeface="+mj-lt"/>
                  </a:rPr>
                  <a:t>)</a:t>
                </a:r>
              </a:p>
              <a:p>
                <a:pPr algn="just"/>
                <a:r>
                  <a:rPr lang="pt-PT" sz="1800" dirty="0">
                    <a:latin typeface="+mj-lt"/>
                  </a:rPr>
                  <a:t>y </a:t>
                </a:r>
                <a:r>
                  <a:rPr lang="pt-PT" sz="1800" baseline="-25000" dirty="0" err="1">
                    <a:latin typeface="+mj-lt"/>
                  </a:rPr>
                  <a:t>L_normalizada</a:t>
                </a:r>
                <a:r>
                  <a:rPr lang="pt-PT" sz="1800" dirty="0">
                    <a:latin typeface="+mj-lt"/>
                  </a:rPr>
                  <a:t>= 0.46 – 0.33 j (</a:t>
                </a:r>
                <a:r>
                  <a:rPr lang="pt-PT" sz="1800" dirty="0" err="1">
                    <a:latin typeface="+mj-lt"/>
                  </a:rPr>
                  <a:t>mS</a:t>
                </a:r>
                <a:r>
                  <a:rPr lang="pt-PT" sz="1800" dirty="0">
                    <a:latin typeface="+mj-lt"/>
                  </a:rPr>
                  <a:t>)</a:t>
                </a:r>
              </a:p>
              <a:p>
                <a:pPr algn="just"/>
                <a:endParaRPr lang="pt-PT" sz="1800" b="1" dirty="0">
                  <a:latin typeface="+mj-lt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PT" sz="1800" b="1" dirty="0">
                    <a:latin typeface="+mj-lt"/>
                  </a:rPr>
                  <a:t>Frequência de projeto: </a:t>
                </a:r>
              </a:p>
              <a:p>
                <a:pPr algn="just"/>
                <a:r>
                  <a:rPr lang="pt-PT" sz="1800" dirty="0">
                    <a:latin typeface="+mj-lt"/>
                  </a:rPr>
                  <a:t>f= 962 MHz</a:t>
                </a:r>
              </a:p>
              <a:p>
                <a:pPr algn="just"/>
                <a:endParaRPr lang="pt-PT" sz="1800" dirty="0">
                  <a:latin typeface="+mj-lt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pt-PT" sz="1800" b="1" dirty="0">
                    <a:latin typeface="+mj-lt"/>
                  </a:rPr>
                  <a:t>Sistemas de adaptação a projetar: </a:t>
                </a:r>
              </a:p>
              <a:p>
                <a:pPr algn="just"/>
                <a:r>
                  <a:rPr lang="pt-PT" sz="1800" dirty="0">
                    <a:latin typeface="+mj-lt"/>
                  </a:rPr>
                  <a:t>2   (</a:t>
                </a:r>
                <a:r>
                  <a:rPr lang="pt-PT" sz="1800" dirty="0" err="1">
                    <a:latin typeface="+mj-lt"/>
                  </a:rPr>
                  <a:t>Stub</a:t>
                </a:r>
                <a:r>
                  <a:rPr lang="pt-PT" sz="1800" dirty="0">
                    <a:latin typeface="+mj-lt"/>
                  </a:rPr>
                  <a:t> em circuito-aberto);</a:t>
                </a:r>
              </a:p>
              <a:p>
                <a:pPr algn="just"/>
                <a:r>
                  <a:rPr lang="pt-PT" sz="1800" dirty="0">
                    <a:latin typeface="+mj-lt"/>
                  </a:rPr>
                  <a:t>5   (L em serie com a linha);</a:t>
                </a:r>
              </a:p>
              <a:p>
                <a:pPr algn="just"/>
                <a:r>
                  <a:rPr lang="pt-PT" sz="1800" dirty="0">
                    <a:latin typeface="+mj-lt"/>
                  </a:rPr>
                  <a:t>7 (Transformador 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sz="1400" i="1" smtClean="0"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pt-PT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pt-PT" sz="1800" dirty="0">
                    <a:latin typeface="+mj-lt"/>
                  </a:rPr>
                  <a:t> num ponto de mínimo);</a:t>
                </a:r>
                <a:endParaRPr lang="pt-PT" dirty="0"/>
              </a:p>
              <a:p>
                <a:pPr algn="l"/>
                <a:endParaRPr lang="pt-PT" dirty="0"/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DBC51EA1-1B7F-FFAB-710E-14CF2681E6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37652" y="1258529"/>
                <a:ext cx="4002096" cy="5471138"/>
              </a:xfrm>
              <a:blipFill>
                <a:blip r:embed="rId4"/>
                <a:stretch>
                  <a:fillRect l="-1372" t="-1336" r="-1220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F9E81A7-E493-32E7-23FD-BF0248EC2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sp>
        <p:nvSpPr>
          <p:cNvPr id="17" name="Arc 16">
            <a:extLst>
              <a:ext uri="{FF2B5EF4-FFF2-40B4-BE49-F238E27FC236}">
                <a16:creationId xmlns:a16="http://schemas.microsoft.com/office/drawing/2014/main" id="{CD531E33-596D-5BC7-7259-B6C74E230644}"/>
              </a:ext>
            </a:extLst>
          </p:cNvPr>
          <p:cNvSpPr/>
          <p:nvPr/>
        </p:nvSpPr>
        <p:spPr>
          <a:xfrm rot="13520169">
            <a:off x="6047962" y="1262278"/>
            <a:ext cx="1873650" cy="3651535"/>
          </a:xfrm>
          <a:prstGeom prst="arc">
            <a:avLst>
              <a:gd name="adj1" fmla="val 17392735"/>
              <a:gd name="adj2" fmla="val 3937678"/>
            </a:avLst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F9AC99-E5B0-736B-38CD-C089E01A403A}"/>
              </a:ext>
            </a:extLst>
          </p:cNvPr>
          <p:cNvCxnSpPr>
            <a:cxnSpLocks/>
            <a:stCxn id="17" idx="2"/>
          </p:cNvCxnSpPr>
          <p:nvPr/>
        </p:nvCxnSpPr>
        <p:spPr>
          <a:xfrm flipV="1">
            <a:off x="7522375" y="1673788"/>
            <a:ext cx="87793" cy="1116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F1696D31-CF3C-9362-53D4-2E62E178C36A}"/>
              </a:ext>
            </a:extLst>
          </p:cNvPr>
          <p:cNvSpPr/>
          <p:nvPr/>
        </p:nvSpPr>
        <p:spPr>
          <a:xfrm rot="1494347">
            <a:off x="8798864" y="2853402"/>
            <a:ext cx="1873650" cy="3651535"/>
          </a:xfrm>
          <a:prstGeom prst="arc">
            <a:avLst>
              <a:gd name="adj1" fmla="val 17579928"/>
              <a:gd name="adj2" fmla="val 3937678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FF0000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5E18B3-DC16-FA91-7CD8-78E078FA851C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10803834" y="3429000"/>
            <a:ext cx="65901" cy="225645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93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DB6C5-4377-DBF4-0F6A-CFD113333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8F9C-B1A5-DFEE-818D-661C7A15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8676" y="691580"/>
            <a:ext cx="10871200" cy="710894"/>
          </a:xfrm>
        </p:spPr>
        <p:txBody>
          <a:bodyPr>
            <a:normAutofit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STUB EM CIRCUITO-ABERTO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3462C-4929-7A75-34D2-781ACE21D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2926" y="1837127"/>
            <a:ext cx="6097035" cy="4871759"/>
          </a:xfrm>
        </p:spPr>
        <p:txBody>
          <a:bodyPr>
            <a:normAutofit lnSpcReduction="10000"/>
          </a:bodyPr>
          <a:lstStyle/>
          <a:p>
            <a:pPr algn="l"/>
            <a:r>
              <a:rPr lang="pt-PT" b="1" dirty="0"/>
              <a:t>Procedimento:</a:t>
            </a:r>
          </a:p>
          <a:p>
            <a:pPr algn="l"/>
            <a:endParaRPr lang="pt-PT" b="1" dirty="0"/>
          </a:p>
          <a:p>
            <a:pPr algn="l"/>
            <a:r>
              <a:rPr lang="pt-PT" dirty="0"/>
              <a:t>Linha adaptada =&gt; y </a:t>
            </a:r>
            <a:r>
              <a:rPr lang="pt-PT" baseline="-25000" dirty="0"/>
              <a:t>in</a:t>
            </a:r>
            <a:r>
              <a:rPr lang="pt-PT" dirty="0"/>
              <a:t> =1</a:t>
            </a:r>
          </a:p>
          <a:p>
            <a:pPr algn="l"/>
            <a:endParaRPr lang="pt-PT" dirty="0"/>
          </a:p>
          <a:p>
            <a:pPr algn="l"/>
            <a:r>
              <a:rPr lang="pt-PT" dirty="0"/>
              <a:t>1.Marcou-se y </a:t>
            </a:r>
            <a:r>
              <a:rPr lang="pt-PT" baseline="-25000" dirty="0"/>
              <a:t>L</a:t>
            </a:r>
            <a:endParaRPr lang="pt-PT" dirty="0"/>
          </a:p>
          <a:p>
            <a:pPr algn="l"/>
            <a:endParaRPr lang="pt-PT" dirty="0"/>
          </a:p>
          <a:p>
            <a:pPr algn="l"/>
            <a:r>
              <a:rPr lang="pt-PT" dirty="0"/>
              <a:t>2.Determinou-se d tal que y = 1 + j 0.93</a:t>
            </a:r>
          </a:p>
          <a:p>
            <a:pPr algn="l"/>
            <a:r>
              <a:rPr lang="pt-PT" dirty="0"/>
              <a:t>    d = d1 = 0.221λ = 0.052m</a:t>
            </a:r>
          </a:p>
          <a:p>
            <a:pPr algn="l"/>
            <a:endParaRPr lang="pt-PT" dirty="0"/>
          </a:p>
          <a:p>
            <a:pPr algn="l"/>
            <a:r>
              <a:rPr lang="pt-PT" dirty="0"/>
              <a:t>3.Determinou-se l </a:t>
            </a:r>
            <a:r>
              <a:rPr lang="pt-PT" baseline="-25000" dirty="0" err="1"/>
              <a:t>Stub</a:t>
            </a:r>
            <a:r>
              <a:rPr lang="pt-PT" dirty="0"/>
              <a:t> tal que y </a:t>
            </a:r>
            <a:r>
              <a:rPr lang="pt-PT" baseline="-25000" dirty="0" err="1"/>
              <a:t>Stub</a:t>
            </a:r>
            <a:r>
              <a:rPr lang="pt-PT" dirty="0"/>
              <a:t>= -j 0.93</a:t>
            </a:r>
          </a:p>
          <a:p>
            <a:pPr algn="l"/>
            <a:r>
              <a:rPr lang="pt-PT" dirty="0"/>
              <a:t>    l </a:t>
            </a:r>
            <a:r>
              <a:rPr lang="pt-PT" baseline="-25000" dirty="0" err="1"/>
              <a:t>Stub</a:t>
            </a:r>
            <a:r>
              <a:rPr lang="pt-PT" baseline="-25000" dirty="0"/>
              <a:t> em C.A.</a:t>
            </a:r>
            <a:r>
              <a:rPr lang="pt-PT" dirty="0"/>
              <a:t> = 0.382λ = 0,089m</a:t>
            </a:r>
          </a:p>
          <a:p>
            <a:pPr algn="l"/>
            <a:endParaRPr lang="pt-P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E05D9-3794-9BCD-5883-EDDDC8600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436CB1-FDEF-2D8E-5E9A-4E8607C76CBF}"/>
              </a:ext>
            </a:extLst>
          </p:cNvPr>
          <p:cNvCxnSpPr>
            <a:cxnSpLocks/>
          </p:cNvCxnSpPr>
          <p:nvPr/>
        </p:nvCxnSpPr>
        <p:spPr>
          <a:xfrm flipV="1">
            <a:off x="7523747" y="2650635"/>
            <a:ext cx="2927943" cy="23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F20E88-8EBE-5F36-91E4-D251F8C17CDB}"/>
              </a:ext>
            </a:extLst>
          </p:cNvPr>
          <p:cNvCxnSpPr>
            <a:cxnSpLocks/>
          </p:cNvCxnSpPr>
          <p:nvPr/>
        </p:nvCxnSpPr>
        <p:spPr>
          <a:xfrm flipV="1">
            <a:off x="7598136" y="4363194"/>
            <a:ext cx="2853554" cy="13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4057906-3446-E972-6295-0674CE719078}"/>
              </a:ext>
            </a:extLst>
          </p:cNvPr>
          <p:cNvSpPr/>
          <p:nvPr/>
        </p:nvSpPr>
        <p:spPr>
          <a:xfrm>
            <a:off x="10391023" y="3138045"/>
            <a:ext cx="179044" cy="695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FA4995-2967-10CC-7D2D-11BEC03D7617}"/>
              </a:ext>
            </a:extLst>
          </p:cNvPr>
          <p:cNvCxnSpPr>
            <a:cxnSpLocks/>
          </p:cNvCxnSpPr>
          <p:nvPr/>
        </p:nvCxnSpPr>
        <p:spPr>
          <a:xfrm>
            <a:off x="10451690" y="2674374"/>
            <a:ext cx="0" cy="749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DF6253-CC8D-F821-3C24-E79A497BC3D2}"/>
              </a:ext>
            </a:extLst>
          </p:cNvPr>
          <p:cNvCxnSpPr>
            <a:cxnSpLocks/>
          </p:cNvCxnSpPr>
          <p:nvPr/>
        </p:nvCxnSpPr>
        <p:spPr>
          <a:xfrm>
            <a:off x="10451690" y="3596148"/>
            <a:ext cx="0" cy="749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D0A7D6-259B-1B1E-957E-8CEA29D0465C}"/>
              </a:ext>
            </a:extLst>
          </p:cNvPr>
          <p:cNvCxnSpPr>
            <a:cxnSpLocks/>
          </p:cNvCxnSpPr>
          <p:nvPr/>
        </p:nvCxnSpPr>
        <p:spPr>
          <a:xfrm>
            <a:off x="9040762" y="2403987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435DD69-31EF-E907-86B1-18319513DEB4}"/>
              </a:ext>
            </a:extLst>
          </p:cNvPr>
          <p:cNvCxnSpPr>
            <a:cxnSpLocks/>
          </p:cNvCxnSpPr>
          <p:nvPr/>
        </p:nvCxnSpPr>
        <p:spPr>
          <a:xfrm>
            <a:off x="9040762" y="2674374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7872B0B-FD0C-D97D-A68A-26C871ECD9FE}"/>
              </a:ext>
            </a:extLst>
          </p:cNvPr>
          <p:cNvCxnSpPr>
            <a:cxnSpLocks/>
          </p:cNvCxnSpPr>
          <p:nvPr/>
        </p:nvCxnSpPr>
        <p:spPr>
          <a:xfrm>
            <a:off x="9040762" y="3008671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616E24-7255-098D-3558-C0C414A7ECFF}"/>
              </a:ext>
            </a:extLst>
          </p:cNvPr>
          <p:cNvCxnSpPr>
            <a:cxnSpLocks/>
          </p:cNvCxnSpPr>
          <p:nvPr/>
        </p:nvCxnSpPr>
        <p:spPr>
          <a:xfrm>
            <a:off x="9040762" y="3266768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EBD87F-B7AF-BB1F-98A7-23E1B161ADE7}"/>
              </a:ext>
            </a:extLst>
          </p:cNvPr>
          <p:cNvCxnSpPr>
            <a:cxnSpLocks/>
          </p:cNvCxnSpPr>
          <p:nvPr/>
        </p:nvCxnSpPr>
        <p:spPr>
          <a:xfrm>
            <a:off x="9030930" y="3515032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4F19E3-3B3D-EB3A-EBF6-5F214F18D595}"/>
              </a:ext>
            </a:extLst>
          </p:cNvPr>
          <p:cNvCxnSpPr>
            <a:cxnSpLocks/>
          </p:cNvCxnSpPr>
          <p:nvPr/>
        </p:nvCxnSpPr>
        <p:spPr>
          <a:xfrm>
            <a:off x="9030930" y="3814917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1A3679A-A22A-2AA5-BF7F-63973865523F}"/>
              </a:ext>
            </a:extLst>
          </p:cNvPr>
          <p:cNvCxnSpPr>
            <a:cxnSpLocks/>
          </p:cNvCxnSpPr>
          <p:nvPr/>
        </p:nvCxnSpPr>
        <p:spPr>
          <a:xfrm>
            <a:off x="9040762" y="4090220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245E258-3B37-E46C-6871-E82556DC34DC}"/>
              </a:ext>
            </a:extLst>
          </p:cNvPr>
          <p:cNvCxnSpPr>
            <a:cxnSpLocks/>
          </p:cNvCxnSpPr>
          <p:nvPr/>
        </p:nvCxnSpPr>
        <p:spPr>
          <a:xfrm>
            <a:off x="9040762" y="4345858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E01519-9FAB-9B04-B7F7-E0EA00D72C85}"/>
              </a:ext>
            </a:extLst>
          </p:cNvPr>
          <p:cNvCxnSpPr>
            <a:cxnSpLocks/>
          </p:cNvCxnSpPr>
          <p:nvPr/>
        </p:nvCxnSpPr>
        <p:spPr>
          <a:xfrm flipH="1">
            <a:off x="7140029" y="2641256"/>
            <a:ext cx="1917162" cy="1713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5446998-13FB-623A-DFA8-01B7B50C17EB}"/>
              </a:ext>
            </a:extLst>
          </p:cNvPr>
          <p:cNvCxnSpPr>
            <a:cxnSpLocks/>
          </p:cNvCxnSpPr>
          <p:nvPr/>
        </p:nvCxnSpPr>
        <p:spPr>
          <a:xfrm flipH="1">
            <a:off x="7280658" y="4362484"/>
            <a:ext cx="1750272" cy="17132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E0A587E-7F7F-770F-6EA7-61196BE97087}"/>
              </a:ext>
            </a:extLst>
          </p:cNvPr>
          <p:cNvCxnSpPr>
            <a:cxnSpLocks/>
          </p:cNvCxnSpPr>
          <p:nvPr/>
        </p:nvCxnSpPr>
        <p:spPr>
          <a:xfrm flipV="1">
            <a:off x="8652905" y="1801828"/>
            <a:ext cx="9832" cy="13691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83DD9E1-4E46-250A-50E9-44E585EA8805}"/>
              </a:ext>
            </a:extLst>
          </p:cNvPr>
          <p:cNvCxnSpPr>
            <a:cxnSpLocks/>
          </p:cNvCxnSpPr>
          <p:nvPr/>
        </p:nvCxnSpPr>
        <p:spPr>
          <a:xfrm flipV="1">
            <a:off x="8911389" y="4171336"/>
            <a:ext cx="0" cy="13513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349E9DD-2022-D747-A86E-2BB37A3E3C35}"/>
              </a:ext>
            </a:extLst>
          </p:cNvPr>
          <p:cNvCxnSpPr/>
          <p:nvPr/>
        </p:nvCxnSpPr>
        <p:spPr>
          <a:xfrm flipV="1">
            <a:off x="9202993" y="4171336"/>
            <a:ext cx="0" cy="9217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668AA36-D883-4532-FF13-2091CDFA8D5A}"/>
              </a:ext>
            </a:extLst>
          </p:cNvPr>
          <p:cNvCxnSpPr>
            <a:cxnSpLocks/>
          </p:cNvCxnSpPr>
          <p:nvPr/>
        </p:nvCxnSpPr>
        <p:spPr>
          <a:xfrm>
            <a:off x="9202993" y="4156005"/>
            <a:ext cx="3260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3C96793-4B84-FFCF-5EC8-E4946A584707}"/>
              </a:ext>
            </a:extLst>
          </p:cNvPr>
          <p:cNvCxnSpPr/>
          <p:nvPr/>
        </p:nvCxnSpPr>
        <p:spPr>
          <a:xfrm flipH="1">
            <a:off x="8534400" y="4188089"/>
            <a:ext cx="3769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3E20558-B1D6-38DC-11C2-234A90C76D62}"/>
              </a:ext>
            </a:extLst>
          </p:cNvPr>
          <p:cNvCxnSpPr/>
          <p:nvPr/>
        </p:nvCxnSpPr>
        <p:spPr>
          <a:xfrm>
            <a:off x="8662737" y="3154644"/>
            <a:ext cx="378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AAF34D0-AF49-D157-417A-2828F17C00F6}"/>
              </a:ext>
            </a:extLst>
          </p:cNvPr>
          <p:cNvCxnSpPr>
            <a:cxnSpLocks/>
          </p:cNvCxnSpPr>
          <p:nvPr/>
        </p:nvCxnSpPr>
        <p:spPr>
          <a:xfrm>
            <a:off x="9040762" y="2141382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BA732DF-DC83-0825-FC92-867EF14B836A}"/>
              </a:ext>
            </a:extLst>
          </p:cNvPr>
          <p:cNvCxnSpPr>
            <a:cxnSpLocks/>
          </p:cNvCxnSpPr>
          <p:nvPr/>
        </p:nvCxnSpPr>
        <p:spPr>
          <a:xfrm>
            <a:off x="9023945" y="4632223"/>
            <a:ext cx="0" cy="1622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2D3AD80-5F5B-BB41-9416-6B56A1B649E3}"/>
              </a:ext>
            </a:extLst>
          </p:cNvPr>
          <p:cNvSpPr txBox="1"/>
          <p:nvPr/>
        </p:nvSpPr>
        <p:spPr>
          <a:xfrm>
            <a:off x="7824698" y="1617162"/>
            <a:ext cx="101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y </a:t>
            </a:r>
            <a:r>
              <a:rPr lang="pt-PT" baseline="-25000" dirty="0"/>
              <a:t>in</a:t>
            </a:r>
            <a:r>
              <a:rPr lang="pt-PT" dirty="0"/>
              <a:t> =1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8474B7-07F8-521A-B66D-0FE4F4C21B6F}"/>
              </a:ext>
            </a:extLst>
          </p:cNvPr>
          <p:cNvSpPr txBox="1"/>
          <p:nvPr/>
        </p:nvSpPr>
        <p:spPr>
          <a:xfrm>
            <a:off x="8155794" y="5522647"/>
            <a:ext cx="187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y </a:t>
            </a:r>
            <a:r>
              <a:rPr lang="pt-PT" baseline="-25000" dirty="0" err="1"/>
              <a:t>Stub</a:t>
            </a:r>
            <a:r>
              <a:rPr lang="pt-PT" dirty="0"/>
              <a:t>= -j 0.93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5B32DFE-3DCB-1C4A-A024-7A6050A508EB}"/>
              </a:ext>
            </a:extLst>
          </p:cNvPr>
          <p:cNvCxnSpPr>
            <a:cxnSpLocks/>
          </p:cNvCxnSpPr>
          <p:nvPr/>
        </p:nvCxnSpPr>
        <p:spPr>
          <a:xfrm>
            <a:off x="9057191" y="2485103"/>
            <a:ext cx="133383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63F933D-7A9D-5F79-34C6-4E2DA47FEEE0}"/>
              </a:ext>
            </a:extLst>
          </p:cNvPr>
          <p:cNvSpPr txBox="1"/>
          <p:nvPr/>
        </p:nvSpPr>
        <p:spPr>
          <a:xfrm>
            <a:off x="9310765" y="2144856"/>
            <a:ext cx="139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d= 0.221λ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14E4E4-D89F-F639-53DF-5C4D80B44234}"/>
              </a:ext>
            </a:extLst>
          </p:cNvPr>
          <p:cNvSpPr txBox="1"/>
          <p:nvPr/>
        </p:nvSpPr>
        <p:spPr>
          <a:xfrm>
            <a:off x="10666757" y="3330366"/>
            <a:ext cx="101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y </a:t>
            </a:r>
            <a:r>
              <a:rPr lang="pt-PT" baseline="-25000" dirty="0"/>
              <a:t>L</a:t>
            </a:r>
            <a:endParaRPr lang="pt-PT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8B5461-F658-7640-2FB2-A4A72F9058A2}"/>
              </a:ext>
            </a:extLst>
          </p:cNvPr>
          <p:cNvCxnSpPr/>
          <p:nvPr/>
        </p:nvCxnSpPr>
        <p:spPr>
          <a:xfrm flipV="1">
            <a:off x="7232789" y="4252452"/>
            <a:ext cx="1743287" cy="17038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FE8F075-8126-FC38-E5C9-600FB9CECCE9}"/>
              </a:ext>
            </a:extLst>
          </p:cNvPr>
          <p:cNvSpPr txBox="1"/>
          <p:nvPr/>
        </p:nvSpPr>
        <p:spPr>
          <a:xfrm rot="18951575">
            <a:off x="6865176" y="4906721"/>
            <a:ext cx="1874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l </a:t>
            </a:r>
            <a:r>
              <a:rPr lang="pt-PT" baseline="-25000" dirty="0" err="1"/>
              <a:t>Stub</a:t>
            </a:r>
            <a:r>
              <a:rPr lang="pt-PT" dirty="0"/>
              <a:t>= 0.382λ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0F48D27-6500-C69F-61C7-BD95D9655852}"/>
              </a:ext>
            </a:extLst>
          </p:cNvPr>
          <p:cNvSpPr txBox="1"/>
          <p:nvPr/>
        </p:nvSpPr>
        <p:spPr>
          <a:xfrm>
            <a:off x="9202993" y="4928782"/>
            <a:ext cx="101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y </a:t>
            </a:r>
            <a:r>
              <a:rPr lang="el-GR" baseline="-25000" dirty="0"/>
              <a:t>π</a:t>
            </a:r>
            <a:r>
              <a:rPr lang="pt-PT" baseline="30000" dirty="0"/>
              <a:t>-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594855-7E58-5FAD-77E0-4FC22170BD96}"/>
              </a:ext>
            </a:extLst>
          </p:cNvPr>
          <p:cNvSpPr txBox="1"/>
          <p:nvPr/>
        </p:nvSpPr>
        <p:spPr>
          <a:xfrm>
            <a:off x="7393463" y="3163218"/>
            <a:ext cx="101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Z </a:t>
            </a:r>
            <a:r>
              <a:rPr lang="pt-PT" baseline="-25000" dirty="0"/>
              <a:t>0</a:t>
            </a:r>
            <a:endParaRPr lang="pt-PT" dirty="0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4937505-B3C2-B76E-F7C6-1AAB930B998B}"/>
              </a:ext>
            </a:extLst>
          </p:cNvPr>
          <p:cNvCxnSpPr>
            <a:cxnSpLocks/>
          </p:cNvCxnSpPr>
          <p:nvPr/>
        </p:nvCxnSpPr>
        <p:spPr>
          <a:xfrm flipV="1">
            <a:off x="9202993" y="1837127"/>
            <a:ext cx="0" cy="13337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DAFFE2A-D5E2-E90B-8DB0-B7FEB837CB79}"/>
              </a:ext>
            </a:extLst>
          </p:cNvPr>
          <p:cNvCxnSpPr/>
          <p:nvPr/>
        </p:nvCxnSpPr>
        <p:spPr>
          <a:xfrm>
            <a:off x="9202993" y="3170903"/>
            <a:ext cx="378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C8D16C1-4E20-FA21-E642-08D1B241CF1B}"/>
              </a:ext>
            </a:extLst>
          </p:cNvPr>
          <p:cNvSpPr txBox="1"/>
          <p:nvPr/>
        </p:nvSpPr>
        <p:spPr>
          <a:xfrm>
            <a:off x="9203829" y="1591851"/>
            <a:ext cx="150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y  =1 + j 0.93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35BA39-89BD-FC52-7594-7AA83A5F9881}"/>
                  </a:ext>
                </a:extLst>
              </p:cNvPr>
              <p:cNvSpPr txBox="1"/>
              <p:nvPr/>
            </p:nvSpPr>
            <p:spPr>
              <a:xfrm>
                <a:off x="8837817" y="6098233"/>
                <a:ext cx="3350970" cy="850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dirty="0"/>
                  <a:t>λ=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PT" b="0" i="0" dirty="0" smtClean="0"/>
                          <m:t>c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ad>
                          <m:radPr>
                            <m:degHide m:val="on"/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𝑟𝑒𝑓𝑓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pt-PT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3∗10^8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962∗</m:t>
                        </m:r>
                        <m:sSup>
                          <m:sSup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1,7779</m:t>
                            </m:r>
                          </m:e>
                        </m:rad>
                      </m:den>
                    </m:f>
                  </m:oMath>
                </a14:m>
                <a:r>
                  <a:rPr lang="pt-PT" dirty="0"/>
                  <a:t> = 0.233m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35BA39-89BD-FC52-7594-7AA83A5F9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7817" y="6098233"/>
                <a:ext cx="3350970" cy="850554"/>
              </a:xfrm>
              <a:prstGeom prst="rect">
                <a:avLst/>
              </a:prstGeom>
              <a:blipFill>
                <a:blip r:embed="rId4"/>
                <a:stretch>
                  <a:fillRect l="-1639" b="-10714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882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9C175-64AF-8AF3-9F0C-F1AB05A93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028E-47E0-42F2-CD7A-72C93CB2C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9015" y="282226"/>
            <a:ext cx="6120562" cy="710894"/>
          </a:xfrm>
        </p:spPr>
        <p:txBody>
          <a:bodyPr>
            <a:normAutofit fontScale="90000"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STUB EM CIRCUITO-ABERTO</a:t>
            </a:r>
            <a:b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Simulação </a:t>
            </a:r>
            <a:r>
              <a:rPr lang="pt-PT" sz="3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endParaRPr lang="pt-PT" sz="30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6D7954-6043-CA63-39C6-496A8F827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94EF52-06CE-2D3B-D6BB-E8B1F1D856C1}"/>
              </a:ext>
            </a:extLst>
          </p:cNvPr>
          <p:cNvSpPr txBox="1"/>
          <p:nvPr/>
        </p:nvSpPr>
        <p:spPr>
          <a:xfrm>
            <a:off x="524693" y="1727290"/>
            <a:ext cx="58844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500" dirty="0"/>
              <a:t>Dados obtidos no </a:t>
            </a:r>
            <a:r>
              <a:rPr lang="pt-PT" sz="1500" dirty="0" err="1"/>
              <a:t>MatLab</a:t>
            </a:r>
            <a:r>
              <a:rPr lang="pt-PT" sz="1500" dirty="0"/>
              <a:t>:</a:t>
            </a:r>
          </a:p>
          <a:p>
            <a:r>
              <a:rPr lang="pt-PT" sz="1500" dirty="0"/>
              <a:t>-&gt; Distância d                             : 0.226 lambda (5.29 cm)</a:t>
            </a:r>
          </a:p>
          <a:p>
            <a:r>
              <a:rPr lang="pt-PT" sz="1500" dirty="0"/>
              <a:t>-&gt; Comprimento do </a:t>
            </a:r>
            <a:r>
              <a:rPr lang="pt-PT" sz="1500" dirty="0" err="1"/>
              <a:t>Stub</a:t>
            </a:r>
            <a:r>
              <a:rPr lang="pt-PT" sz="1500" dirty="0"/>
              <a:t>      : 0.382 lambda (8.93 cm)</a:t>
            </a:r>
          </a:p>
          <a:p>
            <a:r>
              <a:rPr lang="pt-PT" sz="1500" dirty="0"/>
              <a:t>-&gt; S11 @ 962 MHz                    : -30.22 dB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5143AC-753F-24EB-023E-C083185D0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7" y="2742954"/>
            <a:ext cx="4097918" cy="396801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0C9F2A-14DA-574C-EE71-A47071C0A5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79"/>
          <a:stretch>
            <a:fillRect/>
          </a:stretch>
        </p:blipFill>
        <p:spPr>
          <a:xfrm>
            <a:off x="5184365" y="1568741"/>
            <a:ext cx="6601746" cy="489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9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00A7A-5342-6B89-5628-64845EB7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40894-7DCC-0D22-74C3-8B98FDE08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13811"/>
            <a:ext cx="3098863" cy="2344267"/>
          </a:xfrm>
        </p:spPr>
        <p:txBody>
          <a:bodyPr>
            <a:normAutofit fontScale="90000"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STUB EM CIRCUITO-ABERTO</a:t>
            </a:r>
            <a:b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Circuitos no </a:t>
            </a:r>
            <a:r>
              <a:rPr lang="pt-PT" sz="3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Qucs</a:t>
            </a: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Resultados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6F2030-1BAC-A2AA-47BC-0F294862F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6FA711-4F23-941D-C2FA-CE5B57F9F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863" y="977119"/>
            <a:ext cx="8963938" cy="53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35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06DA7-1FD2-5821-FA5F-D101807F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8C0AA6-6459-A26A-04ED-679FCDF00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71" y="1632291"/>
            <a:ext cx="6802095" cy="503895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PT" b="1" dirty="0"/>
              <a:t>Procedimento:</a:t>
            </a:r>
          </a:p>
          <a:p>
            <a:pPr algn="l"/>
            <a:endParaRPr lang="pt-PT" dirty="0"/>
          </a:p>
          <a:p>
            <a:pPr algn="l"/>
            <a:r>
              <a:rPr lang="pt-PT" dirty="0"/>
              <a:t>1.Marcou-se Z </a:t>
            </a:r>
            <a:r>
              <a:rPr lang="pt-PT" baseline="-25000" dirty="0"/>
              <a:t>L</a:t>
            </a:r>
            <a:endParaRPr lang="pt-PT" dirty="0"/>
          </a:p>
          <a:p>
            <a:pPr algn="just"/>
            <a:r>
              <a:rPr lang="pt-PT" dirty="0"/>
              <a:t>2.</a:t>
            </a:r>
            <a:r>
              <a:rPr lang="pt-PT" b="1" dirty="0"/>
              <a:t> </a:t>
            </a:r>
            <a:r>
              <a:rPr lang="pt-PT" dirty="0"/>
              <a:t>Determinou-se a primeira interseção com a circunferência de admitância real unitária, seguindo o percurso na Carta de Smith ao longo da linha</a:t>
            </a:r>
          </a:p>
          <a:p>
            <a:pPr algn="just"/>
            <a:r>
              <a:rPr lang="pt-PT" dirty="0"/>
              <a:t>3. Percorreu-se a circunferência de admitância real unitária até atingir a segunda interseção</a:t>
            </a:r>
          </a:p>
          <a:p>
            <a:pPr algn="just"/>
            <a:r>
              <a:rPr lang="pt-PT" dirty="0"/>
              <a:t>4. Determinou-se a distância d da carga até este ponto de interseção (posição onde a parte real de </a:t>
            </a:r>
            <a:r>
              <a:rPr lang="pt-PT" dirty="0" err="1"/>
              <a:t>Zin</a:t>
            </a:r>
            <a:r>
              <a:rPr lang="pt-PT" dirty="0"/>
              <a:t>​ é igual a Z</a:t>
            </a:r>
            <a:r>
              <a:rPr lang="pt-PT" baseline="-25000" dirty="0"/>
              <a:t>0</a:t>
            </a:r>
            <a:r>
              <a:rPr lang="pt-PT" dirty="0"/>
              <a:t>​, mas ainda há uma componente imaginária presente).</a:t>
            </a:r>
          </a:p>
          <a:p>
            <a:pPr algn="just"/>
            <a:r>
              <a:rPr lang="pt-PT" dirty="0"/>
              <a:t>	d=d1​=0.152λ=0,035m</a:t>
            </a:r>
          </a:p>
          <a:p>
            <a:pPr algn="just"/>
            <a:r>
              <a:rPr lang="pt-PT" dirty="0"/>
              <a:t>5. Adicionou-se um bobine em série para cancelar a reatância capacitiva restante e obter </a:t>
            </a:r>
            <a:r>
              <a:rPr lang="pt-PT" dirty="0" err="1"/>
              <a:t>Zin</a:t>
            </a:r>
            <a:r>
              <a:rPr lang="pt-PT" dirty="0"/>
              <a:t>=Z </a:t>
            </a:r>
            <a:r>
              <a:rPr lang="pt-PT" baseline="-25000" dirty="0"/>
              <a:t>0</a:t>
            </a:r>
            <a:r>
              <a:rPr lang="pt-PT" dirty="0"/>
              <a:t>​.</a:t>
            </a:r>
          </a:p>
          <a:p>
            <a:pPr algn="just"/>
            <a:r>
              <a:rPr lang="pt-PT" dirty="0"/>
              <a:t>	L=8,438 </a:t>
            </a:r>
            <a:r>
              <a:rPr lang="pt-PT" dirty="0" err="1"/>
              <a:t>nH</a:t>
            </a:r>
            <a:endParaRPr lang="pt-PT" dirty="0"/>
          </a:p>
          <a:p>
            <a:pPr algn="just"/>
            <a:endParaRPr lang="pt-PT" dirty="0"/>
          </a:p>
          <a:p>
            <a:pPr algn="just"/>
            <a:endParaRPr lang="pt-PT" dirty="0"/>
          </a:p>
          <a:p>
            <a:pPr algn="just"/>
            <a:endParaRPr lang="pt-PT" dirty="0"/>
          </a:p>
          <a:p>
            <a:pPr algn="just"/>
            <a:endParaRPr lang="pt-P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1C823-1F94-810B-D6FD-2AA7C57B3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1FE090-9D59-EB6C-FA1E-7DABB7176534}"/>
              </a:ext>
            </a:extLst>
          </p:cNvPr>
          <p:cNvCxnSpPr>
            <a:cxnSpLocks/>
          </p:cNvCxnSpPr>
          <p:nvPr/>
        </p:nvCxnSpPr>
        <p:spPr>
          <a:xfrm flipV="1">
            <a:off x="7523747" y="2650635"/>
            <a:ext cx="2927943" cy="237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3DC40E-2E4C-06B1-3B84-929517CEE215}"/>
              </a:ext>
            </a:extLst>
          </p:cNvPr>
          <p:cNvCxnSpPr>
            <a:cxnSpLocks/>
          </p:cNvCxnSpPr>
          <p:nvPr/>
        </p:nvCxnSpPr>
        <p:spPr>
          <a:xfrm flipV="1">
            <a:off x="7598136" y="4363194"/>
            <a:ext cx="2853554" cy="13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45B6D81-EB02-AB81-1BF2-FE3424A67DCD}"/>
              </a:ext>
            </a:extLst>
          </p:cNvPr>
          <p:cNvSpPr/>
          <p:nvPr/>
        </p:nvSpPr>
        <p:spPr>
          <a:xfrm>
            <a:off x="10391023" y="3138045"/>
            <a:ext cx="179044" cy="695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D609D1-48AD-099C-4672-5243EEEB150C}"/>
              </a:ext>
            </a:extLst>
          </p:cNvPr>
          <p:cNvCxnSpPr>
            <a:cxnSpLocks/>
          </p:cNvCxnSpPr>
          <p:nvPr/>
        </p:nvCxnSpPr>
        <p:spPr>
          <a:xfrm>
            <a:off x="10451690" y="2674374"/>
            <a:ext cx="0" cy="749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A4C227B-E12D-43C9-2B74-01D6D1222C15}"/>
              </a:ext>
            </a:extLst>
          </p:cNvPr>
          <p:cNvCxnSpPr>
            <a:cxnSpLocks/>
          </p:cNvCxnSpPr>
          <p:nvPr/>
        </p:nvCxnSpPr>
        <p:spPr>
          <a:xfrm>
            <a:off x="10451690" y="3596148"/>
            <a:ext cx="0" cy="749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D12ED23-7662-41FE-CCE3-17CF57307830}"/>
              </a:ext>
            </a:extLst>
          </p:cNvPr>
          <p:cNvSpPr txBox="1"/>
          <p:nvPr/>
        </p:nvSpPr>
        <p:spPr>
          <a:xfrm>
            <a:off x="10666757" y="3330366"/>
            <a:ext cx="101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Z </a:t>
            </a:r>
            <a:r>
              <a:rPr lang="pt-PT" baseline="-25000" dirty="0"/>
              <a:t>L</a:t>
            </a:r>
            <a:endParaRPr lang="pt-PT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8E7480-9F7C-8BD6-CBB3-79A365626F59}"/>
              </a:ext>
            </a:extLst>
          </p:cNvPr>
          <p:cNvSpPr txBox="1"/>
          <p:nvPr/>
        </p:nvSpPr>
        <p:spPr>
          <a:xfrm>
            <a:off x="7393463" y="3163218"/>
            <a:ext cx="101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Z </a:t>
            </a:r>
            <a:r>
              <a:rPr lang="pt-PT" baseline="-25000" dirty="0"/>
              <a:t>0</a:t>
            </a:r>
            <a:endParaRPr lang="pt-PT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796ECF1-21DC-1630-6E77-69B6C78353AE}"/>
              </a:ext>
            </a:extLst>
          </p:cNvPr>
          <p:cNvSpPr txBox="1">
            <a:spLocks/>
          </p:cNvSpPr>
          <p:nvPr/>
        </p:nvSpPr>
        <p:spPr>
          <a:xfrm>
            <a:off x="660400" y="655172"/>
            <a:ext cx="10871200" cy="7108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L EM SÉRIE COM A  LINHA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A86372E-8449-2113-9DCD-09BCACD319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90" b="23009"/>
          <a:stretch/>
        </p:blipFill>
        <p:spPr>
          <a:xfrm>
            <a:off x="7881721" y="2397039"/>
            <a:ext cx="1530207" cy="3554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E73D00-1582-C5B2-2209-C8EEEB50E265}"/>
              </a:ext>
            </a:extLst>
          </p:cNvPr>
          <p:cNvSpPr txBox="1"/>
          <p:nvPr/>
        </p:nvSpPr>
        <p:spPr>
          <a:xfrm>
            <a:off x="9388238" y="2255008"/>
            <a:ext cx="124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d= 0.152λ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65C976-234B-234B-FE4E-BDEEF542657D}"/>
              </a:ext>
            </a:extLst>
          </p:cNvPr>
          <p:cNvCxnSpPr>
            <a:cxnSpLocks/>
          </p:cNvCxnSpPr>
          <p:nvPr/>
        </p:nvCxnSpPr>
        <p:spPr>
          <a:xfrm>
            <a:off x="9530304" y="2577795"/>
            <a:ext cx="8318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AB6984-8153-4897-5EB5-E6A8B2D64EB4}"/>
              </a:ext>
            </a:extLst>
          </p:cNvPr>
          <p:cNvSpPr txBox="1"/>
          <p:nvPr/>
        </p:nvSpPr>
        <p:spPr>
          <a:xfrm>
            <a:off x="8013161" y="2734130"/>
            <a:ext cx="1530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dirty="0"/>
              <a:t>L=8,438 </a:t>
            </a:r>
            <a:r>
              <a:rPr lang="pt-PT" dirty="0" err="1"/>
              <a:t>nH</a:t>
            </a:r>
            <a:endParaRPr lang="pt-PT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421DFC-DDBA-0AD1-7AD5-C8DCFC7F50A2}"/>
              </a:ext>
            </a:extLst>
          </p:cNvPr>
          <p:cNvSpPr txBox="1"/>
          <p:nvPr/>
        </p:nvSpPr>
        <p:spPr>
          <a:xfrm>
            <a:off x="9308081" y="5797976"/>
            <a:ext cx="2344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PT" dirty="0"/>
              <a:t>X</a:t>
            </a:r>
            <a:r>
              <a:rPr lang="pt-PT" baseline="-25000" dirty="0"/>
              <a:t>L</a:t>
            </a:r>
            <a:r>
              <a:rPr lang="pt-PT" dirty="0"/>
              <a:t>= </a:t>
            </a:r>
            <a:r>
              <a:rPr lang="pt-PT" dirty="0" err="1"/>
              <a:t>jwL</a:t>
            </a:r>
            <a:r>
              <a:rPr lang="pt-PT" dirty="0"/>
              <a:t>= j*2*</a:t>
            </a:r>
            <a:r>
              <a:rPr lang="el-GR" dirty="0"/>
              <a:t>π</a:t>
            </a:r>
            <a:r>
              <a:rPr lang="pt-PT" dirty="0"/>
              <a:t>*f*L </a:t>
            </a:r>
            <a:r>
              <a:rPr lang="pt-PT" dirty="0">
                <a:sym typeface="Wingdings" panose="05000000000000000000" pitchFamily="2" charset="2"/>
              </a:rPr>
              <a:t> </a:t>
            </a:r>
            <a:endParaRPr lang="pt-PT" dirty="0"/>
          </a:p>
          <a:p>
            <a:pPr algn="just"/>
            <a:r>
              <a:rPr lang="pt-PT" dirty="0">
                <a:sym typeface="Wingdings" panose="05000000000000000000" pitchFamily="2" charset="2"/>
              </a:rPr>
              <a:t> </a:t>
            </a:r>
            <a:r>
              <a:rPr lang="pt-PT" dirty="0"/>
              <a:t>L=8,438 </a:t>
            </a:r>
            <a:r>
              <a:rPr lang="pt-PT" dirty="0" err="1"/>
              <a:t>nH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22944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BA93B-5621-558F-FA96-E7B2CF557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24E4-654A-1B94-9C16-4569605C5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7304" y="415339"/>
            <a:ext cx="6472903" cy="710894"/>
          </a:xfrm>
        </p:spPr>
        <p:txBody>
          <a:bodyPr>
            <a:normAutofit fontScale="90000"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L EM SÉRIE COM A  LINHA</a:t>
            </a:r>
            <a:b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Simulação </a:t>
            </a:r>
            <a:r>
              <a:rPr lang="pt-PT" sz="3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Cartas de Smith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01850-A2FB-8FF4-FD7F-D71862A54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3640CB-656A-B96B-D7D0-09AFBEEB4088}"/>
              </a:ext>
            </a:extLst>
          </p:cNvPr>
          <p:cNvSpPr txBox="1"/>
          <p:nvPr/>
        </p:nvSpPr>
        <p:spPr>
          <a:xfrm>
            <a:off x="524693" y="1727290"/>
            <a:ext cx="58844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500" dirty="0"/>
              <a:t>Dados obtidos no </a:t>
            </a:r>
            <a:r>
              <a:rPr lang="pt-PT" sz="1500" dirty="0" err="1"/>
              <a:t>MatLab</a:t>
            </a:r>
            <a:r>
              <a:rPr lang="pt-PT" sz="1500" dirty="0"/>
              <a:t>:</a:t>
            </a:r>
          </a:p>
          <a:p>
            <a:r>
              <a:rPr lang="pt-PT" sz="1500" dirty="0"/>
              <a:t>-&gt; Distância d                  : 0.152 lambda (3.55 cm)</a:t>
            </a:r>
          </a:p>
          <a:p>
            <a:r>
              <a:rPr lang="pt-PT" sz="1500" dirty="0"/>
              <a:t>-&gt; Indutância                   : 8.40 </a:t>
            </a:r>
            <a:r>
              <a:rPr lang="pt-PT" sz="1500" dirty="0" err="1"/>
              <a:t>nH</a:t>
            </a:r>
            <a:endParaRPr lang="pt-PT" sz="1500" dirty="0"/>
          </a:p>
          <a:p>
            <a:r>
              <a:rPr lang="pt-PT" sz="1500" dirty="0"/>
              <a:t>-&gt; S11 @ 962 MHz         : -27.40 dB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E86BF5-3089-9439-46C1-BE0DD4925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01" y="2742953"/>
            <a:ext cx="4128518" cy="406937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FA81E52-F570-F212-83AF-93D6487ED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627" y="1479443"/>
            <a:ext cx="6601746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54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0E0F4-74F9-383B-9F24-F5FE3CD5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EA48-530F-CFF4-3F58-0B78106F9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85" y="2576432"/>
            <a:ext cx="3038626" cy="1459539"/>
          </a:xfrm>
        </p:spPr>
        <p:txBody>
          <a:bodyPr>
            <a:normAutofit fontScale="90000"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L EM SÉRIE COM A  LINHA</a:t>
            </a:r>
            <a:b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Circuitos no </a:t>
            </a:r>
            <a:r>
              <a:rPr lang="pt-PT" sz="3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Qucs</a:t>
            </a: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Resultados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BD69A-FA05-78C4-6A63-84891E440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51D900-48AD-9BAC-B6E0-D0F4B3D98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417" y="1378481"/>
            <a:ext cx="8753261" cy="495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69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8AB7D-0D3F-703E-AA22-6D496BFE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B70108D-1DA8-7685-A447-5432E5474FE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2926" y="1652338"/>
                <a:ext cx="6097035" cy="5205661"/>
              </a:xfrm>
            </p:spPr>
            <p:txBody>
              <a:bodyPr>
                <a:normAutofit lnSpcReduction="10000"/>
              </a:bodyPr>
              <a:lstStyle/>
              <a:p>
                <a:pPr algn="l"/>
                <a:r>
                  <a:rPr lang="pt-PT" dirty="0"/>
                  <a:t>Linha adaptada =&gt; Z </a:t>
                </a:r>
                <a:r>
                  <a:rPr lang="pt-PT" baseline="-25000" dirty="0"/>
                  <a:t>0 </a:t>
                </a:r>
                <a:r>
                  <a:rPr lang="pt-PT" dirty="0"/>
                  <a:t>= Z </a:t>
                </a:r>
                <a:r>
                  <a:rPr lang="pt-PT" baseline="-25000" dirty="0"/>
                  <a:t>L</a:t>
                </a:r>
                <a:endParaRPr lang="pt-PT" dirty="0"/>
              </a:p>
              <a:p>
                <a:pPr algn="l"/>
                <a:endParaRPr lang="pt-PT" dirty="0"/>
              </a:p>
              <a:p>
                <a:pPr algn="l"/>
                <a:r>
                  <a:rPr lang="pt-PT" dirty="0"/>
                  <a:t>1.Marcou-se Z </a:t>
                </a:r>
                <a:r>
                  <a:rPr lang="pt-PT" baseline="-25000" dirty="0"/>
                  <a:t>L</a:t>
                </a:r>
                <a:endParaRPr lang="pt-PT" dirty="0"/>
              </a:p>
              <a:p>
                <a:pPr algn="l"/>
                <a:endParaRPr lang="pt-PT" dirty="0"/>
              </a:p>
              <a:p>
                <a:pPr algn="l"/>
                <a:r>
                  <a:rPr lang="pt-PT" dirty="0"/>
                  <a:t>2. Ponto onde interseta pela primeira vez a circunferência de admitância real unitária e segue-se o caminho por essa circunferência</a:t>
                </a:r>
              </a:p>
              <a:p>
                <a:pPr algn="l"/>
                <a:r>
                  <a:rPr lang="pt-PT" dirty="0"/>
                  <a:t> </a:t>
                </a:r>
              </a:p>
              <a:p>
                <a:pPr algn="l"/>
                <a:r>
                  <a:rPr lang="pt-PT" dirty="0"/>
                  <a:t>3.</a:t>
                </a:r>
                <a:r>
                  <a:rPr lang="pt-PT" dirty="0">
                    <a:latin typeface="+mj-lt"/>
                  </a:rPr>
                  <a:t>Determinou-se Z </a:t>
                </a:r>
                <a:r>
                  <a:rPr lang="pt-PT" baseline="-25000" dirty="0">
                    <a:latin typeface="+mj-lt"/>
                  </a:rPr>
                  <a:t>T</a:t>
                </a:r>
                <a:r>
                  <a:rPr lang="pt-PT" dirty="0">
                    <a:latin typeface="+mj-lt"/>
                  </a:rPr>
                  <a:t> tal que </a:t>
                </a:r>
                <a:r>
                  <a:rPr lang="pt-PT" dirty="0">
                    <a:latin typeface="+mj-lt"/>
                    <a:cs typeface="Arial" panose="020B0604020202020204" pitchFamily="34" charset="0"/>
                  </a:rPr>
                  <a:t>Z </a:t>
                </a:r>
                <a:r>
                  <a:rPr lang="pt-PT" baseline="-25000" dirty="0">
                    <a:latin typeface="+mj-lt"/>
                    <a:cs typeface="Arial" panose="020B0604020202020204" pitchFamily="34" charset="0"/>
                  </a:rPr>
                  <a:t>T</a:t>
                </a:r>
                <a:r>
                  <a:rPr lang="pt-PT" dirty="0">
                    <a:latin typeface="+mj-lt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pt-PT" dirty="0">
                            <a:latin typeface="+mj-lt"/>
                            <a:cs typeface="Arial" panose="020B0604020202020204" pitchFamily="34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pt-PT" dirty="0">
                            <a:latin typeface="+mj-lt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PT" b="0" i="0" baseline="-25000" dirty="0" smtClean="0">
                            <a:latin typeface="+mj-lt"/>
                            <a:cs typeface="Arial" panose="020B0604020202020204" pitchFamily="34" charset="0"/>
                          </a:rPr>
                          <m:t>d</m:t>
                        </m:r>
                        <m:r>
                          <m:rPr>
                            <m:nor/>
                          </m:rPr>
                          <a:rPr lang="pt-PT" b="0" i="0" baseline="-25000" dirty="0" smtClean="0">
                            <a:latin typeface="+mj-lt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pt-PT" dirty="0">
                            <a:latin typeface="+mj-lt"/>
                            <a:cs typeface="Arial" panose="020B0604020202020204" pitchFamily="34" charset="0"/>
                          </a:rPr>
                          <m:t>Z</m:t>
                        </m:r>
                        <m:r>
                          <m:rPr>
                            <m:nor/>
                          </m:rPr>
                          <a:rPr lang="pt-PT" dirty="0">
                            <a:latin typeface="+mj-lt"/>
                            <a:cs typeface="Arial" panose="020B0604020202020204" pitchFamily="34" charset="0"/>
                          </a:rPr>
                          <m:t> 0</m:t>
                        </m:r>
                      </m:e>
                    </m:rad>
                  </m:oMath>
                </a14:m>
                <a:endParaRPr lang="pt-PT" dirty="0">
                  <a:latin typeface="+mj-lt"/>
                  <a:cs typeface="Arial" panose="020B0604020202020204" pitchFamily="34" charset="0"/>
                </a:endParaRPr>
              </a:p>
              <a:p>
                <a:pPr algn="l"/>
                <a:r>
                  <a:rPr lang="pt-PT" dirty="0">
                    <a:latin typeface="+mj-lt"/>
                    <a:cs typeface="Arial" panose="020B0604020202020204" pitchFamily="34" charset="0"/>
                  </a:rPr>
                  <a:t>     Z </a:t>
                </a:r>
                <a:r>
                  <a:rPr lang="pt-PT" baseline="-25000" dirty="0">
                    <a:latin typeface="+mj-lt"/>
                    <a:cs typeface="Arial" panose="020B0604020202020204" pitchFamily="34" charset="0"/>
                  </a:rPr>
                  <a:t>d</a:t>
                </a:r>
                <a:r>
                  <a:rPr lang="pt-PT" dirty="0">
                    <a:latin typeface="+mj-lt"/>
                    <a:cs typeface="Arial" panose="020B0604020202020204" pitchFamily="34" charset="0"/>
                  </a:rPr>
                  <a:t> = R </a:t>
                </a:r>
                <a:r>
                  <a:rPr lang="pt-PT" baseline="-25000" dirty="0">
                    <a:latin typeface="+mj-lt"/>
                    <a:cs typeface="Arial" panose="020B0604020202020204" pitchFamily="34" charset="0"/>
                  </a:rPr>
                  <a:t>min</a:t>
                </a:r>
                <a:r>
                  <a:rPr lang="pt-PT" dirty="0">
                    <a:latin typeface="+mj-lt"/>
                    <a:cs typeface="Arial" panose="020B0604020202020204" pitchFamily="34" charset="0"/>
                  </a:rPr>
                  <a:t> * 50 </a:t>
                </a:r>
                <a:r>
                  <a:rPr lang="pt-PT" dirty="0">
                    <a:latin typeface="+mj-lt"/>
                  </a:rPr>
                  <a:t>= 20,5 </a:t>
                </a:r>
                <a:r>
                  <a:rPr lang="el-GR" dirty="0">
                    <a:latin typeface="+mj-lt"/>
                  </a:rPr>
                  <a:t>Ω</a:t>
                </a:r>
                <a:r>
                  <a:rPr lang="pt-PT" dirty="0">
                    <a:latin typeface="+mj-lt"/>
                  </a:rPr>
                  <a:t> </a:t>
                </a:r>
              </a:p>
              <a:p>
                <a:pPr algn="l"/>
                <a:r>
                  <a:rPr lang="pt-PT" dirty="0">
                    <a:latin typeface="+mj-lt"/>
                    <a:cs typeface="Arial" panose="020B0604020202020204" pitchFamily="34" charset="0"/>
                  </a:rPr>
                  <a:t>     Z </a:t>
                </a:r>
                <a:r>
                  <a:rPr lang="pt-PT" baseline="-25000" dirty="0">
                    <a:latin typeface="+mj-lt"/>
                    <a:cs typeface="Arial" panose="020B0604020202020204" pitchFamily="34" charset="0"/>
                  </a:rPr>
                  <a:t>0</a:t>
                </a:r>
                <a:r>
                  <a:rPr lang="pt-PT" dirty="0">
                    <a:latin typeface="+mj-lt"/>
                    <a:cs typeface="Arial" panose="020B0604020202020204" pitchFamily="34" charset="0"/>
                  </a:rPr>
                  <a:t> = 50 </a:t>
                </a:r>
                <a:r>
                  <a:rPr lang="el-GR" dirty="0">
                    <a:latin typeface="+mj-lt"/>
                  </a:rPr>
                  <a:t>Ω</a:t>
                </a:r>
                <a:r>
                  <a:rPr lang="pt-PT" dirty="0">
                    <a:latin typeface="+mj-lt"/>
                  </a:rPr>
                  <a:t> </a:t>
                </a:r>
              </a:p>
              <a:p>
                <a:pPr algn="l"/>
                <a:r>
                  <a:rPr lang="pt-PT" dirty="0">
                    <a:latin typeface="+mj-lt"/>
                    <a:cs typeface="Arial" panose="020B0604020202020204" pitchFamily="34" charset="0"/>
                  </a:rPr>
                  <a:t>     Z </a:t>
                </a:r>
                <a:r>
                  <a:rPr lang="pt-PT" baseline="-25000" dirty="0">
                    <a:latin typeface="+mj-lt"/>
                    <a:cs typeface="Arial" panose="020B0604020202020204" pitchFamily="34" charset="0"/>
                  </a:rPr>
                  <a:t>T</a:t>
                </a:r>
                <a:r>
                  <a:rPr lang="pt-PT" dirty="0">
                    <a:latin typeface="+mj-lt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pt-PT" b="0" i="0" smtClean="0">
                            <a:latin typeface="+mj-lt"/>
                          </a:rPr>
                          <m:t>20,5∗50 </m:t>
                        </m:r>
                      </m:e>
                    </m:rad>
                  </m:oMath>
                </a14:m>
                <a:r>
                  <a:rPr lang="pt-PT" dirty="0">
                    <a:latin typeface="+mj-lt"/>
                  </a:rPr>
                  <a:t>= 32.01</a:t>
                </a:r>
                <a:r>
                  <a:rPr lang="el-GR" dirty="0">
                    <a:latin typeface="+mj-lt"/>
                  </a:rPr>
                  <a:t>Ω</a:t>
                </a:r>
                <a:r>
                  <a:rPr lang="pt-PT" dirty="0"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B70108D-1DA8-7685-A447-5432E5474F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2926" y="1652338"/>
                <a:ext cx="6097035" cy="5205661"/>
              </a:xfrm>
              <a:blipFill>
                <a:blip r:embed="rId3"/>
                <a:stretch>
                  <a:fillRect l="-1600" t="-2108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A8294F7-76CC-76F5-0F54-CACAF89F9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822CEE-B899-81E4-9431-1695F9EE42E4}"/>
              </a:ext>
            </a:extLst>
          </p:cNvPr>
          <p:cNvCxnSpPr>
            <a:cxnSpLocks/>
          </p:cNvCxnSpPr>
          <p:nvPr/>
        </p:nvCxnSpPr>
        <p:spPr>
          <a:xfrm flipV="1">
            <a:off x="6681582" y="2650635"/>
            <a:ext cx="3770108" cy="3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FED546-49D5-1875-3307-4E5B268CC165}"/>
              </a:ext>
            </a:extLst>
          </p:cNvPr>
          <p:cNvCxnSpPr>
            <a:cxnSpLocks/>
          </p:cNvCxnSpPr>
          <p:nvPr/>
        </p:nvCxnSpPr>
        <p:spPr>
          <a:xfrm flipV="1">
            <a:off x="6681582" y="4363194"/>
            <a:ext cx="3770108" cy="364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B11BC87-B4B3-0C3F-BBA8-4726731D5A40}"/>
              </a:ext>
            </a:extLst>
          </p:cNvPr>
          <p:cNvSpPr/>
          <p:nvPr/>
        </p:nvSpPr>
        <p:spPr>
          <a:xfrm>
            <a:off x="10362171" y="3202136"/>
            <a:ext cx="179038" cy="524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6B930E-18B9-5E95-B867-C8CF885E490B}"/>
              </a:ext>
            </a:extLst>
          </p:cNvPr>
          <p:cNvCxnSpPr>
            <a:cxnSpLocks/>
          </p:cNvCxnSpPr>
          <p:nvPr/>
        </p:nvCxnSpPr>
        <p:spPr>
          <a:xfrm>
            <a:off x="10451690" y="2674374"/>
            <a:ext cx="0" cy="749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54443D-98FF-2E20-2135-958FF8A56C45}"/>
              </a:ext>
            </a:extLst>
          </p:cNvPr>
          <p:cNvCxnSpPr>
            <a:cxnSpLocks/>
          </p:cNvCxnSpPr>
          <p:nvPr/>
        </p:nvCxnSpPr>
        <p:spPr>
          <a:xfrm>
            <a:off x="10451690" y="3596148"/>
            <a:ext cx="0" cy="749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E14876A-DC52-AE4B-E349-A997AC2D689E}"/>
              </a:ext>
            </a:extLst>
          </p:cNvPr>
          <p:cNvSpPr txBox="1"/>
          <p:nvPr/>
        </p:nvSpPr>
        <p:spPr>
          <a:xfrm>
            <a:off x="9425256" y="2224297"/>
            <a:ext cx="2413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 </a:t>
            </a:r>
            <a:r>
              <a:rPr lang="pt-PT" baseline="-25000" dirty="0"/>
              <a:t>min</a:t>
            </a:r>
            <a:r>
              <a:rPr lang="pt-PT" dirty="0">
                <a:cs typeface="Arial" panose="020B0604020202020204" pitchFamily="34" charset="0"/>
              </a:rPr>
              <a:t> </a:t>
            </a:r>
            <a:r>
              <a:rPr lang="pt-PT" dirty="0"/>
              <a:t>= 0.311λ=0,072m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EB9783-BDA5-1A9B-1302-738D9C860A95}"/>
              </a:ext>
            </a:extLst>
          </p:cNvPr>
          <p:cNvSpPr txBox="1"/>
          <p:nvPr/>
        </p:nvSpPr>
        <p:spPr>
          <a:xfrm>
            <a:off x="10666757" y="3330366"/>
            <a:ext cx="101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Z </a:t>
            </a:r>
            <a:r>
              <a:rPr lang="pt-PT" baseline="-25000" dirty="0"/>
              <a:t>L</a:t>
            </a:r>
            <a:endParaRPr lang="pt-PT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4C3C25-65C2-E466-20EE-33D800DB9733}"/>
              </a:ext>
            </a:extLst>
          </p:cNvPr>
          <p:cNvSpPr txBox="1"/>
          <p:nvPr/>
        </p:nvSpPr>
        <p:spPr>
          <a:xfrm>
            <a:off x="6954303" y="3433744"/>
            <a:ext cx="101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Z </a:t>
            </a:r>
            <a:r>
              <a:rPr lang="pt-PT" baseline="-25000" dirty="0"/>
              <a:t>0</a:t>
            </a:r>
            <a:endParaRPr lang="pt-PT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01F9F-CE00-2B12-3AA0-1636E8121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632" y="800834"/>
            <a:ext cx="10238658" cy="710894"/>
          </a:xfrm>
        </p:spPr>
        <p:txBody>
          <a:bodyPr>
            <a:normAutofit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TRANSFORMADOR DE </a:t>
            </a:r>
            <a:r>
              <a:rPr lang="el-GR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/4 NUM PONTO DE MÍNIMO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2EFA08-183C-41E1-9756-5007CEA8F124}"/>
              </a:ext>
            </a:extLst>
          </p:cNvPr>
          <p:cNvSpPr/>
          <p:nvPr/>
        </p:nvSpPr>
        <p:spPr>
          <a:xfrm rot="16200000">
            <a:off x="8774631" y="2117190"/>
            <a:ext cx="298110" cy="1034203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6819A6-1D66-845F-07D1-2D0405B13794}"/>
              </a:ext>
            </a:extLst>
          </p:cNvPr>
          <p:cNvCxnSpPr>
            <a:cxnSpLocks/>
          </p:cNvCxnSpPr>
          <p:nvPr/>
        </p:nvCxnSpPr>
        <p:spPr>
          <a:xfrm>
            <a:off x="9530304" y="2577795"/>
            <a:ext cx="8318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E89ED9F-049A-556B-CAFD-254BB949B108}"/>
              </a:ext>
            </a:extLst>
          </p:cNvPr>
          <p:cNvCxnSpPr>
            <a:cxnSpLocks/>
            <a:stCxn id="46" idx="6"/>
            <a:endCxn id="45" idx="1"/>
          </p:cNvCxnSpPr>
          <p:nvPr/>
        </p:nvCxnSpPr>
        <p:spPr>
          <a:xfrm flipV="1">
            <a:off x="8434011" y="4365268"/>
            <a:ext cx="994148" cy="20786"/>
          </a:xfrm>
          <a:prstGeom prst="line">
            <a:avLst/>
          </a:prstGeom>
          <a:ln w="254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810A30E8-A8A2-489C-2A8A-6FF594A8F68C}"/>
              </a:ext>
            </a:extLst>
          </p:cNvPr>
          <p:cNvSpPr/>
          <p:nvPr/>
        </p:nvSpPr>
        <p:spPr>
          <a:xfrm>
            <a:off x="9421464" y="4358573"/>
            <a:ext cx="45719" cy="4571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DA80975-24B4-9CFE-40BA-8F3F34AC6676}"/>
              </a:ext>
            </a:extLst>
          </p:cNvPr>
          <p:cNvSpPr/>
          <p:nvPr/>
        </p:nvSpPr>
        <p:spPr>
          <a:xfrm>
            <a:off x="8388292" y="4363194"/>
            <a:ext cx="45719" cy="4571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4B2BAAF-FEE5-224F-B7DC-0A70F9169182}"/>
              </a:ext>
            </a:extLst>
          </p:cNvPr>
          <p:cNvCxnSpPr>
            <a:cxnSpLocks/>
          </p:cNvCxnSpPr>
          <p:nvPr/>
        </p:nvCxnSpPr>
        <p:spPr>
          <a:xfrm>
            <a:off x="8434011" y="2408963"/>
            <a:ext cx="99414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79F8816-DF89-5E20-ACB6-0217D4470FAA}"/>
                  </a:ext>
                </a:extLst>
              </p:cNvPr>
              <p:cNvSpPr txBox="1"/>
              <p:nvPr/>
            </p:nvSpPr>
            <p:spPr>
              <a:xfrm>
                <a:off x="8592701" y="1813268"/>
                <a:ext cx="644452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P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</a:rPr>
                            <m:t>λ</m:t>
                          </m:r>
                        </m:num>
                        <m:den>
                          <m:r>
                            <a:rPr lang="pt-PT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pt-PT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79F8816-DF89-5E20-ACB6-0217D4470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2701" y="1813268"/>
                <a:ext cx="644452" cy="6165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BD5663DC-943C-12FC-1888-8A03BDF29541}"/>
              </a:ext>
            </a:extLst>
          </p:cNvPr>
          <p:cNvSpPr txBox="1"/>
          <p:nvPr/>
        </p:nvSpPr>
        <p:spPr>
          <a:xfrm>
            <a:off x="8373779" y="3321203"/>
            <a:ext cx="1443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Z </a:t>
            </a:r>
            <a:r>
              <a:rPr lang="pt-PT" baseline="-25000" dirty="0"/>
              <a:t>T</a:t>
            </a:r>
            <a:r>
              <a:rPr lang="pt-PT" dirty="0">
                <a:latin typeface="+mj-lt"/>
              </a:rPr>
              <a:t> =32.01</a:t>
            </a:r>
            <a:r>
              <a:rPr lang="el-GR" dirty="0">
                <a:latin typeface="+mj-lt"/>
              </a:rPr>
              <a:t>Ω</a:t>
            </a:r>
            <a:r>
              <a:rPr lang="pt-PT" dirty="0">
                <a:latin typeface="+mj-lt"/>
              </a:rPr>
              <a:t> </a:t>
            </a:r>
            <a:endParaRPr lang="pt-PT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57804B6-D039-F87E-240E-0DC37670EFE1}"/>
              </a:ext>
            </a:extLst>
          </p:cNvPr>
          <p:cNvCxnSpPr>
            <a:cxnSpLocks/>
          </p:cNvCxnSpPr>
          <p:nvPr/>
        </p:nvCxnSpPr>
        <p:spPr>
          <a:xfrm flipV="1">
            <a:off x="8157410" y="4059041"/>
            <a:ext cx="0" cy="13513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002EEA6-3955-7411-76E8-DFB329A5DF17}"/>
              </a:ext>
            </a:extLst>
          </p:cNvPr>
          <p:cNvCxnSpPr>
            <a:cxnSpLocks/>
          </p:cNvCxnSpPr>
          <p:nvPr/>
        </p:nvCxnSpPr>
        <p:spPr>
          <a:xfrm>
            <a:off x="8157410" y="4044099"/>
            <a:ext cx="3874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5C986F7-6A6D-86CB-873A-0B95B31F69E7}"/>
              </a:ext>
            </a:extLst>
          </p:cNvPr>
          <p:cNvSpPr txBox="1"/>
          <p:nvPr/>
        </p:nvSpPr>
        <p:spPr>
          <a:xfrm>
            <a:off x="7627529" y="5382923"/>
            <a:ext cx="1800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Z </a:t>
            </a:r>
            <a:r>
              <a:rPr lang="pt-PT" baseline="-25000" dirty="0"/>
              <a:t>in</a:t>
            </a:r>
            <a:r>
              <a:rPr lang="pt-PT" dirty="0">
                <a:latin typeface="+mj-lt"/>
                <a:cs typeface="Arial" panose="020B0604020202020204" pitchFamily="34" charset="0"/>
              </a:rPr>
              <a:t> = Z </a:t>
            </a:r>
            <a:r>
              <a:rPr lang="pt-PT" baseline="-25000" dirty="0">
                <a:latin typeface="+mj-lt"/>
                <a:cs typeface="Arial" panose="020B0604020202020204" pitchFamily="34" charset="0"/>
              </a:rPr>
              <a:t>d</a:t>
            </a:r>
            <a:r>
              <a:rPr lang="pt-PT" dirty="0">
                <a:latin typeface="+mj-lt"/>
              </a:rPr>
              <a:t> =20,5 </a:t>
            </a:r>
            <a:r>
              <a:rPr lang="el-GR" dirty="0">
                <a:latin typeface="+mj-lt"/>
              </a:rPr>
              <a:t>Ω</a:t>
            </a:r>
            <a:r>
              <a:rPr lang="pt-PT" dirty="0">
                <a:latin typeface="+mj-lt"/>
              </a:rPr>
              <a:t> </a:t>
            </a:r>
            <a:endParaRPr lang="pt-PT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BFDF92-9E5C-E9BC-DBBF-2E432028736B}"/>
              </a:ext>
            </a:extLst>
          </p:cNvPr>
          <p:cNvCxnSpPr>
            <a:cxnSpLocks/>
          </p:cNvCxnSpPr>
          <p:nvPr/>
        </p:nvCxnSpPr>
        <p:spPr>
          <a:xfrm>
            <a:off x="8544868" y="3051037"/>
            <a:ext cx="83186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A8E2FEE-5B8C-345C-514B-3B46D3EDD51F}"/>
              </a:ext>
            </a:extLst>
          </p:cNvPr>
          <p:cNvSpPr txBox="1"/>
          <p:nvPr/>
        </p:nvSpPr>
        <p:spPr>
          <a:xfrm>
            <a:off x="8373779" y="2777889"/>
            <a:ext cx="1443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d= 0.058m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37E53E-E52D-C180-D7BB-9D89AAD8396B}"/>
                  </a:ext>
                </a:extLst>
              </p:cNvPr>
              <p:cNvSpPr txBox="1"/>
              <p:nvPr/>
            </p:nvSpPr>
            <p:spPr>
              <a:xfrm>
                <a:off x="9403908" y="6262701"/>
                <a:ext cx="2275968" cy="5266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pt-P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i="1" smtClean="0"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pt-PT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PT" dirty="0"/>
                          <m:t>0.</m:t>
                        </m:r>
                        <m:r>
                          <m:rPr>
                            <m:nor/>
                          </m:rPr>
                          <a:rPr lang="pt-PT" b="0" i="0" dirty="0" smtClean="0"/>
                          <m:t>233</m:t>
                        </m:r>
                        <m:r>
                          <m:rPr>
                            <m:nor/>
                          </m:rPr>
                          <a:rPr lang="pt-PT" dirty="0"/>
                          <m:t> </m:t>
                        </m:r>
                        <m:r>
                          <m:rPr>
                            <m:nor/>
                          </m:rPr>
                          <a:rPr lang="pt-PT" dirty="0"/>
                          <m:t>m</m:t>
                        </m:r>
                      </m:num>
                      <m:den>
                        <m:r>
                          <a:rPr lang="pt-PT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pt-PT" dirty="0"/>
                  <a:t> = 0.058m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237E53E-E52D-C180-D7BB-9D89AAD83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908" y="6262701"/>
                <a:ext cx="2275968" cy="526619"/>
              </a:xfrm>
              <a:prstGeom prst="rect">
                <a:avLst/>
              </a:prstGeom>
              <a:blipFill>
                <a:blip r:embed="rId6"/>
                <a:stretch>
                  <a:fillRect r="-3217" b="-8046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183D5B-6659-7336-2BC7-DCDEECD8C25F}"/>
                  </a:ext>
                </a:extLst>
              </p:cNvPr>
              <p:cNvSpPr txBox="1"/>
              <p:nvPr/>
            </p:nvSpPr>
            <p:spPr>
              <a:xfrm>
                <a:off x="9385798" y="5382923"/>
                <a:ext cx="3350970" cy="850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dirty="0"/>
                  <a:t>λ=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pt-PT" b="0" i="0" dirty="0" smtClean="0"/>
                          <m:t>c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ad>
                          <m:radPr>
                            <m:degHide m:val="on"/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pt-PT" b="0" i="1" smtClean="0">
                                    <a:latin typeface="Cambria Math" panose="02040503050406030204" pitchFamily="18" charset="0"/>
                                  </a:rPr>
                                  <m:t>𝑟𝑒𝑓𝑓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pt-PT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P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3∗10^8</m:t>
                        </m:r>
                      </m:num>
                      <m:den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962∗</m:t>
                        </m:r>
                        <m:sSup>
                          <m:sSupPr>
                            <m:ctrlPr>
                              <a:rPr lang="pt-P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a:rPr lang="pt-PT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pt-PT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PT" b="0" i="1" smtClean="0">
                                <a:latin typeface="Cambria Math" panose="02040503050406030204" pitchFamily="18" charset="0"/>
                              </a:rPr>
                              <m:t>1,7779</m:t>
                            </m:r>
                          </m:e>
                        </m:rad>
                      </m:den>
                    </m:f>
                  </m:oMath>
                </a14:m>
                <a:r>
                  <a:rPr lang="pt-PT" dirty="0"/>
                  <a:t> = 0.233m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183D5B-6659-7336-2BC7-DCDEECD8C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798" y="5382923"/>
                <a:ext cx="3350970" cy="850554"/>
              </a:xfrm>
              <a:prstGeom prst="rect">
                <a:avLst/>
              </a:prstGeom>
              <a:blipFill>
                <a:blip r:embed="rId7"/>
                <a:stretch>
                  <a:fillRect l="-1639" b="-10714"/>
                </a:stretch>
              </a:blipFill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15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35E3F-A9C2-1001-DE29-730B5FDD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CBD0-6F55-EC0B-EA3E-A8E7981FB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7121" y="149114"/>
            <a:ext cx="7354605" cy="1235549"/>
          </a:xfrm>
        </p:spPr>
        <p:txBody>
          <a:bodyPr>
            <a:normAutofit fontScale="90000"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TRANSFORMADOR DE </a:t>
            </a:r>
            <a:r>
              <a:rPr lang="el-GR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/4 NUM PONTO DE MÍNIMO </a:t>
            </a:r>
            <a:b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Simulação </a:t>
            </a:r>
            <a:r>
              <a:rPr lang="pt-PT" sz="3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endParaRPr lang="pt-PT" sz="30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43640-8CF7-A7AA-788C-7251973E9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F7184F-816F-DBEB-4A82-DCBE1878ADAA}"/>
              </a:ext>
            </a:extLst>
          </p:cNvPr>
          <p:cNvSpPr txBox="1"/>
          <p:nvPr/>
        </p:nvSpPr>
        <p:spPr>
          <a:xfrm>
            <a:off x="524693" y="1727290"/>
            <a:ext cx="5884495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1500" dirty="0"/>
              <a:t>Dados obtidos no </a:t>
            </a:r>
            <a:r>
              <a:rPr lang="pt-PT" sz="1500" dirty="0" err="1"/>
              <a:t>MatLab</a:t>
            </a:r>
            <a:r>
              <a:rPr lang="pt-PT" sz="1500" dirty="0"/>
              <a:t>:</a:t>
            </a:r>
          </a:p>
          <a:p>
            <a:r>
              <a:rPr lang="pt-PT" sz="1500" dirty="0"/>
              <a:t>-&gt; Distância ao Mínimo (d)  : 0.311 lambda (7.27 cm)</a:t>
            </a:r>
          </a:p>
          <a:p>
            <a:r>
              <a:rPr lang="pt-PT" sz="1500" dirty="0"/>
              <a:t>-&gt; Comprimento L/4               : 0.250 lambda (5.85 cm)</a:t>
            </a:r>
          </a:p>
          <a:p>
            <a:r>
              <a:rPr lang="pt-PT" sz="1500" dirty="0"/>
              <a:t>-&gt; Impedância </a:t>
            </a:r>
            <a:r>
              <a:rPr lang="pt-PT" sz="1500" dirty="0" err="1"/>
              <a:t>Zt</a:t>
            </a:r>
            <a:r>
              <a:rPr lang="pt-PT" sz="1500" dirty="0"/>
              <a:t>                      : 32.01 Ohms</a:t>
            </a:r>
          </a:p>
          <a:p>
            <a:r>
              <a:rPr lang="pt-PT" sz="1500" dirty="0"/>
              <a:t>-&gt; S11 @ 962 MHz                    : -42.81 dB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9279E-5EC2-5B1A-AF99-71A80EF57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672" y="2938862"/>
            <a:ext cx="3804948" cy="380494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A1FC8D7-447E-7827-585F-D04F72376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038" y="1548264"/>
            <a:ext cx="6630325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9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51D01-8EA0-9444-3FF9-E034AF2EA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591E-EBE2-56C1-3C6B-2151C67D0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53" y="2037347"/>
            <a:ext cx="3004043" cy="2032426"/>
          </a:xfrm>
        </p:spPr>
        <p:txBody>
          <a:bodyPr>
            <a:normAutofit/>
          </a:bodyPr>
          <a:lstStyle/>
          <a:p>
            <a:r>
              <a:rPr lang="pt-PT" sz="23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TRANSFORMADOR DE </a:t>
            </a:r>
            <a:r>
              <a:rPr lang="el-GR" sz="23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pt-PT" sz="23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/4 NUM PONTO DE MÍNIMO</a:t>
            </a:r>
            <a:br>
              <a:rPr lang="pt-PT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Circuitos no </a:t>
            </a:r>
            <a:r>
              <a:rPr lang="pt-PT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Qucs</a:t>
            </a:r>
            <a:r>
              <a:rPr lang="pt-PT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Resultados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BC5F7-D763-16B2-4EDB-BD71A8061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153596-0EE4-0D92-E7CC-6C6186C0A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896" y="1320582"/>
            <a:ext cx="8751923" cy="485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27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BA09F-6937-57CB-AFA2-F255D32B0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AF2AD-7179-C6B5-A64E-50B876054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53" y="2672861"/>
            <a:ext cx="3707052" cy="1406769"/>
          </a:xfrm>
        </p:spPr>
        <p:txBody>
          <a:bodyPr>
            <a:normAutofit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comparativa dos sistemas de adaptação (</a:t>
            </a:r>
            <a:r>
              <a:rPr lang="pt-PT" sz="3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</a:t>
            </a: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BE4B3-0CE3-7561-E0F0-FDAAC0586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3B67A23-F63B-1019-948A-A688A628B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005" y="488560"/>
            <a:ext cx="7787650" cy="588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8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2B786-3669-F99F-A8EB-BFE52F507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0296B-EDFA-6086-B1CA-979BC2A51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1126233"/>
            <a:ext cx="10871200" cy="710894"/>
          </a:xfrm>
        </p:spPr>
        <p:txBody>
          <a:bodyPr>
            <a:normAutofit/>
          </a:bodyPr>
          <a:lstStyle/>
          <a:p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comparativa dos sistemas de adaptação (</a:t>
            </a:r>
            <a:r>
              <a:rPr lang="pt-PT" sz="3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Qucs</a:t>
            </a:r>
            <a:r>
              <a:rPr lang="pt-PT" sz="3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7A1C2-126E-6483-586F-CB43EAF6D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1853" y="2294327"/>
            <a:ext cx="11777642" cy="4414559"/>
          </a:xfrm>
        </p:spPr>
        <p:txBody>
          <a:bodyPr>
            <a:normAutofit/>
          </a:bodyPr>
          <a:lstStyle/>
          <a:p>
            <a:pPr algn="just"/>
            <a:r>
              <a:rPr lang="pt-PT" dirty="0"/>
              <a:t>	</a:t>
            </a:r>
            <a:r>
              <a:rPr lang="pt-PT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Sistema de </a:t>
            </a:r>
            <a:r>
              <a:rPr lang="pt-PT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Stub</a:t>
            </a:r>
            <a:r>
              <a:rPr lang="pt-PT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em Circuito Aberto: </a:t>
            </a:r>
            <a:r>
              <a:rPr lang="pt-PT" dirty="0"/>
              <a:t>Apresentou uma adaptação robusta com um coeficiente de reflexão S11 de -30.22 dB na frequência de projeto de 962 MHz. A implementação em </a:t>
            </a:r>
            <a:r>
              <a:rPr lang="pt-PT" dirty="0" err="1"/>
              <a:t>microstrip</a:t>
            </a:r>
            <a:r>
              <a:rPr lang="pt-PT" dirty="0"/>
              <a:t> validou com precisão os cálculos teóricos, demonstrando uma elevada eficiência na transferência de potência.</a:t>
            </a:r>
          </a:p>
          <a:p>
            <a:pPr algn="just"/>
            <a:r>
              <a:rPr lang="pt-PT" dirty="0"/>
              <a:t>	</a:t>
            </a:r>
            <a:r>
              <a:rPr lang="pt-PT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Sistema de Indutância em Série: </a:t>
            </a:r>
            <a:r>
              <a:rPr lang="pt-PT" dirty="0"/>
              <a:t>A simulação no </a:t>
            </a:r>
            <a:r>
              <a:rPr lang="pt-PT" dirty="0" err="1"/>
              <a:t>Qucs</a:t>
            </a:r>
            <a:r>
              <a:rPr lang="pt-PT" dirty="0"/>
              <a:t> confirmou uma adaptação de -27.4 dB. Este sistema destacou-se pela sua maior largura de banda em comparação aos restantes, sendo a solução mais tolerante a pequenas variações de frequência ou desvios nos valores dos componentes.</a:t>
            </a:r>
          </a:p>
          <a:p>
            <a:pPr algn="just"/>
            <a:r>
              <a:rPr lang="pt-PT" dirty="0"/>
              <a:t>	</a:t>
            </a:r>
            <a:r>
              <a:rPr lang="pt-PT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Transformador de </a:t>
            </a:r>
            <a:r>
              <a:rPr lang="el-GR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pt-PT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/4 </a:t>
            </a:r>
            <a:r>
              <a:rPr lang="pt-PT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num Ponto de Mínimo: </a:t>
            </a:r>
            <a:r>
              <a:rPr lang="pt-PT" dirty="0"/>
              <a:t>Foi o sistema com o melhor desempenho absoluto, atingindo um valor de </a:t>
            </a:r>
            <a:r>
              <a:rPr lang="pt-PT"/>
              <a:t>-42.81 </a:t>
            </a:r>
            <a:r>
              <a:rPr lang="pt-PT" dirty="0"/>
              <a:t>dB aos 962 MHz. A correta calibração da largura da linha (W) para a impedância de 32.01</a:t>
            </a:r>
            <a:r>
              <a:rPr lang="el-GR" dirty="0"/>
              <a:t> Ω </a:t>
            </a:r>
            <a:r>
              <a:rPr lang="pt-PT" dirty="0"/>
              <a:t>permitiu uma adaptação muito boa (reflexão praticamente nula).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2DA94-F66B-EFD3-23B4-2B616408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53" y="149114"/>
            <a:ext cx="2604293" cy="97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06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ec2a7db-e211-41e6-ac52-739a8225b5a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430D4D8590894FB4EB9CCCDD1FA008" ma:contentTypeVersion="13" ma:contentTypeDescription="Create a new document." ma:contentTypeScope="" ma:versionID="598999fade202c084b50cb272b1ae2f7">
  <xsd:schema xmlns:xsd="http://www.w3.org/2001/XMLSchema" xmlns:xs="http://www.w3.org/2001/XMLSchema" xmlns:p="http://schemas.microsoft.com/office/2006/metadata/properties" xmlns:ns3="3ec2a7db-e211-41e6-ac52-739a8225b5aa" xmlns:ns4="7cdf302f-bc1d-4a49-82da-57295b92840d" targetNamespace="http://schemas.microsoft.com/office/2006/metadata/properties" ma:root="true" ma:fieldsID="d0a283432defbadadeaf0fcfab5b6374" ns3:_="" ns4:_="">
    <xsd:import namespace="3ec2a7db-e211-41e6-ac52-739a8225b5aa"/>
    <xsd:import namespace="7cdf302f-bc1d-4a49-82da-57295b9284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c2a7db-e211-41e6-ac52-739a8225b5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df302f-bc1d-4a49-82da-57295b92840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16762-66CD-4C46-97F9-84C961F68F0A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7cdf302f-bc1d-4a49-82da-57295b92840d"/>
    <ds:schemaRef ds:uri="http://schemas.openxmlformats.org/package/2006/metadata/core-properties"/>
    <ds:schemaRef ds:uri="3ec2a7db-e211-41e6-ac52-739a8225b5a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49D10D7-656B-4599-A4CA-D9FD8567FA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573C6E-7882-40E2-9FF8-541B94E037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c2a7db-e211-41e6-ac52-739a8225b5aa"/>
    <ds:schemaRef ds:uri="7cdf302f-bc1d-4a49-82da-57295b9284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1708</TotalTime>
  <Words>873</Words>
  <Application>Microsoft Office PowerPoint</Application>
  <PresentationFormat>Ecrã Panorâmico</PresentationFormat>
  <Paragraphs>104</Paragraphs>
  <Slides>13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Wingdings</vt:lpstr>
      <vt:lpstr>Office Theme</vt:lpstr>
      <vt:lpstr>Trabalho de Adaptação de impedâncias  </vt:lpstr>
      <vt:lpstr>Dados do trabalho:</vt:lpstr>
      <vt:lpstr>2. STUB EM CIRCUITO-ABERTO</vt:lpstr>
      <vt:lpstr>2. STUB EM CIRCUITO-ABERTO Simulação Matlab</vt:lpstr>
      <vt:lpstr>2. STUB EM CIRCUITO-ABERTO Circuitos no Qucs e Resultados</vt:lpstr>
      <vt:lpstr>Apresentação do PowerPoint</vt:lpstr>
      <vt:lpstr>5. L EM SÉRIE COM A  LINHA Simulação Matlab: Cartas de Smith</vt:lpstr>
      <vt:lpstr>5. L EM SÉRIE COM A  LINHA Circuitos no Qucs e Resultados</vt:lpstr>
      <vt:lpstr>7. TRANSFORMADOR DE λ/4 NUM PONTO DE MÍNIMO </vt:lpstr>
      <vt:lpstr>7. TRANSFORMADOR DE λ/4 NUM PONTO DE MÍNIMO  Simulação Matlab</vt:lpstr>
      <vt:lpstr>7. TRANSFORMADOR DE λ/4 NUM PONTO DE MÍNIMO Circuitos no Qucs e Resultados</vt:lpstr>
      <vt:lpstr>Análise comparativa dos sistemas de adaptação (MatLab):</vt:lpstr>
      <vt:lpstr>Análise comparativa dos sistemas de adaptação (Qucs):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Adriana Pires</dc:creator>
  <cp:lastModifiedBy>Tomás Ferreira</cp:lastModifiedBy>
  <cp:revision>93</cp:revision>
  <dcterms:created xsi:type="dcterms:W3CDTF">2024-12-13T16:04:18Z</dcterms:created>
  <dcterms:modified xsi:type="dcterms:W3CDTF">2026-04-09T15:15:09Z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0x010100BC430D4D8590894FB4EB9CCCDD1FA008</vt:lpwstr>
  </property>
</Properties>
</file>